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chivo Black" charset="1" panose="020B0A03020202020B04"/>
      <p:regular r:id="rId16"/>
    </p:embeddedFont>
    <p:embeddedFont>
      <p:font typeface="Open Sans" charset="1" panose="00000000000000000000"/>
      <p:regular r:id="rId17"/>
    </p:embeddedFont>
    <p:embeddedFont>
      <p:font typeface="Open Sans Bold" charset="1" panose="00000000000000000000"/>
      <p:regular r:id="rId18"/>
    </p:embeddedFont>
    <p:embeddedFont>
      <p:font typeface="Open Sans Italics"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gif" Type="http://schemas.openxmlformats.org/officeDocument/2006/relationships/image"/><Relationship Id="rId3"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gif"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gif"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C191A"/>
        </a:solidFill>
      </p:bgPr>
    </p:bg>
    <p:spTree>
      <p:nvGrpSpPr>
        <p:cNvPr id="1" name=""/>
        <p:cNvGrpSpPr/>
        <p:nvPr/>
      </p:nvGrpSpPr>
      <p:grpSpPr>
        <a:xfrm>
          <a:off x="0" y="0"/>
          <a:ext cx="0" cy="0"/>
          <a:chOff x="0" y="0"/>
          <a:chExt cx="0" cy="0"/>
        </a:xfrm>
      </p:grpSpPr>
      <p:sp>
        <p:nvSpPr>
          <p:cNvPr name="Freeform 2" id="2"/>
          <p:cNvSpPr/>
          <p:nvPr/>
        </p:nvSpPr>
        <p:spPr>
          <a:xfrm flipH="false" flipV="false" rot="0">
            <a:off x="10332067" y="2748993"/>
            <a:ext cx="6686234" cy="4789015"/>
          </a:xfrm>
          <a:custGeom>
            <a:avLst/>
            <a:gdLst/>
            <a:ahLst/>
            <a:cxnLst/>
            <a:rect r="r" b="b" t="t" l="l"/>
            <a:pathLst>
              <a:path h="4789015" w="6686234">
                <a:moveTo>
                  <a:pt x="0" y="0"/>
                </a:moveTo>
                <a:lnTo>
                  <a:pt x="6686234" y="0"/>
                </a:lnTo>
                <a:lnTo>
                  <a:pt x="6686234" y="4789014"/>
                </a:lnTo>
                <a:lnTo>
                  <a:pt x="0" y="47890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06876" y="3432930"/>
            <a:ext cx="7737124" cy="3021330"/>
          </a:xfrm>
          <a:prstGeom prst="rect">
            <a:avLst/>
          </a:prstGeom>
        </p:spPr>
        <p:txBody>
          <a:bodyPr anchor="t" rtlCol="false" tIns="0" lIns="0" bIns="0" rIns="0">
            <a:spAutoFit/>
          </a:bodyPr>
          <a:lstStyle/>
          <a:p>
            <a:pPr algn="l" marL="0" indent="0" lvl="0">
              <a:lnSpc>
                <a:spcPts val="11715"/>
              </a:lnSpc>
            </a:pPr>
            <a:r>
              <a:rPr lang="en-US" sz="10650" spc="213">
                <a:solidFill>
                  <a:srgbClr val="F6E7D8"/>
                </a:solidFill>
                <a:latin typeface="Archivo Black"/>
                <a:ea typeface="Archivo Black"/>
                <a:cs typeface="Archivo Black"/>
                <a:sym typeface="Archivo Black"/>
              </a:rPr>
              <a:t>PHISHING 101</a:t>
            </a:r>
          </a:p>
        </p:txBody>
      </p:sp>
      <p:sp>
        <p:nvSpPr>
          <p:cNvPr name="TextBox 4" id="4"/>
          <p:cNvSpPr txBox="true"/>
          <p:nvPr/>
        </p:nvSpPr>
        <p:spPr>
          <a:xfrm rot="0">
            <a:off x="1406876" y="7398307"/>
            <a:ext cx="6066793" cy="422275"/>
          </a:xfrm>
          <a:prstGeom prst="rect">
            <a:avLst/>
          </a:prstGeom>
        </p:spPr>
        <p:txBody>
          <a:bodyPr anchor="t" rtlCol="false" tIns="0" lIns="0" bIns="0" rIns="0">
            <a:spAutoFit/>
          </a:bodyPr>
          <a:lstStyle/>
          <a:p>
            <a:pPr algn="l">
              <a:lnSpc>
                <a:spcPts val="3499"/>
              </a:lnSpc>
            </a:pPr>
            <a:r>
              <a:rPr lang="en-US" sz="2499" spc="49">
                <a:solidFill>
                  <a:srgbClr val="F6E7D8"/>
                </a:solidFill>
                <a:latin typeface="Open Sans"/>
                <a:ea typeface="Open Sans"/>
                <a:cs typeface="Open Sans"/>
                <a:sym typeface="Open Sans"/>
              </a:rPr>
              <a:t>Think Before You Click!</a:t>
            </a:r>
          </a:p>
        </p:txBody>
      </p:sp>
      <p:sp>
        <p:nvSpPr>
          <p:cNvPr name="AutoShape 5" id="5"/>
          <p:cNvSpPr/>
          <p:nvPr/>
        </p:nvSpPr>
        <p:spPr>
          <a:xfrm>
            <a:off x="1311626" y="7196146"/>
            <a:ext cx="7737124" cy="0"/>
          </a:xfrm>
          <a:prstGeom prst="line">
            <a:avLst/>
          </a:prstGeom>
          <a:ln cap="flat" w="104775">
            <a:solidFill>
              <a:srgbClr val="F6E7D8"/>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1C191A"/>
        </a:solidFill>
      </p:bgPr>
    </p:bg>
    <p:spTree>
      <p:nvGrpSpPr>
        <p:cNvPr id="1" name=""/>
        <p:cNvGrpSpPr/>
        <p:nvPr/>
      </p:nvGrpSpPr>
      <p:grpSpPr>
        <a:xfrm>
          <a:off x="0" y="0"/>
          <a:ext cx="0" cy="0"/>
          <a:chOff x="0" y="0"/>
          <a:chExt cx="0" cy="0"/>
        </a:xfrm>
      </p:grpSpPr>
      <p:sp>
        <p:nvSpPr>
          <p:cNvPr name="TextBox 2" id="2"/>
          <p:cNvSpPr txBox="true"/>
          <p:nvPr/>
        </p:nvSpPr>
        <p:spPr>
          <a:xfrm rot="0">
            <a:off x="3712371" y="1692556"/>
            <a:ext cx="10863257" cy="1238250"/>
          </a:xfrm>
          <a:prstGeom prst="rect">
            <a:avLst/>
          </a:prstGeom>
        </p:spPr>
        <p:txBody>
          <a:bodyPr anchor="t" rtlCol="false" tIns="0" lIns="0" bIns="0" rIns="0">
            <a:spAutoFit/>
          </a:bodyPr>
          <a:lstStyle/>
          <a:p>
            <a:pPr algn="ctr" marL="0" indent="0" lvl="0">
              <a:lnSpc>
                <a:spcPts val="9600"/>
              </a:lnSpc>
              <a:spcBef>
                <a:spcPct val="0"/>
              </a:spcBef>
            </a:pPr>
            <a:r>
              <a:rPr lang="en-US" sz="8000" spc="160">
                <a:solidFill>
                  <a:srgbClr val="F6E7D8"/>
                </a:solidFill>
                <a:latin typeface="Archivo Black"/>
                <a:ea typeface="Archivo Black"/>
                <a:cs typeface="Archivo Black"/>
                <a:sym typeface="Archivo Black"/>
              </a:rPr>
              <a:t>OBJECTIVES</a:t>
            </a:r>
          </a:p>
        </p:txBody>
      </p:sp>
      <p:sp>
        <p:nvSpPr>
          <p:cNvPr name="TextBox 3" id="3"/>
          <p:cNvSpPr txBox="true"/>
          <p:nvPr/>
        </p:nvSpPr>
        <p:spPr>
          <a:xfrm rot="0">
            <a:off x="2428104" y="6443324"/>
            <a:ext cx="2993446" cy="1228090"/>
          </a:xfrm>
          <a:prstGeom prst="rect">
            <a:avLst/>
          </a:prstGeom>
        </p:spPr>
        <p:txBody>
          <a:bodyPr anchor="t" rtlCol="false" tIns="0" lIns="0" bIns="0" rIns="0">
            <a:spAutoFit/>
          </a:bodyPr>
          <a:lstStyle/>
          <a:p>
            <a:pPr algn="ctr">
              <a:lnSpc>
                <a:spcPts val="2419"/>
              </a:lnSpc>
            </a:pPr>
            <a:r>
              <a:rPr lang="en-US" sz="2199" spc="43">
                <a:solidFill>
                  <a:srgbClr val="F6E7D8"/>
                </a:solidFill>
                <a:latin typeface="Open Sans"/>
                <a:ea typeface="Open Sans"/>
                <a:cs typeface="Open Sans"/>
                <a:sym typeface="Open Sans"/>
              </a:rPr>
              <a:t>Define phishing and identify common methods used by scammers</a:t>
            </a:r>
          </a:p>
        </p:txBody>
      </p:sp>
      <p:sp>
        <p:nvSpPr>
          <p:cNvPr name="TextBox 4" id="4"/>
          <p:cNvSpPr txBox="true"/>
          <p:nvPr/>
        </p:nvSpPr>
        <p:spPr>
          <a:xfrm rot="0">
            <a:off x="7647277" y="6443324"/>
            <a:ext cx="2993446" cy="923290"/>
          </a:xfrm>
          <a:prstGeom prst="rect">
            <a:avLst/>
          </a:prstGeom>
        </p:spPr>
        <p:txBody>
          <a:bodyPr anchor="t" rtlCol="false" tIns="0" lIns="0" bIns="0" rIns="0">
            <a:spAutoFit/>
          </a:bodyPr>
          <a:lstStyle/>
          <a:p>
            <a:pPr algn="ctr" marL="0" indent="0" lvl="0">
              <a:lnSpc>
                <a:spcPts val="2419"/>
              </a:lnSpc>
              <a:spcBef>
                <a:spcPct val="0"/>
              </a:spcBef>
            </a:pPr>
            <a:r>
              <a:rPr lang="en-US" sz="2199" spc="43">
                <a:solidFill>
                  <a:srgbClr val="F6E7D8"/>
                </a:solidFill>
                <a:latin typeface="Open Sans"/>
                <a:ea typeface="Open Sans"/>
                <a:cs typeface="Open Sans"/>
                <a:sym typeface="Open Sans"/>
              </a:rPr>
              <a:t>Recognize red flags in phishing emails, messages, or posts</a:t>
            </a:r>
          </a:p>
        </p:txBody>
      </p:sp>
      <p:sp>
        <p:nvSpPr>
          <p:cNvPr name="TextBox 5" id="5"/>
          <p:cNvSpPr txBox="true"/>
          <p:nvPr/>
        </p:nvSpPr>
        <p:spPr>
          <a:xfrm rot="0">
            <a:off x="12866450" y="6443324"/>
            <a:ext cx="2993446" cy="1837690"/>
          </a:xfrm>
          <a:prstGeom prst="rect">
            <a:avLst/>
          </a:prstGeom>
        </p:spPr>
        <p:txBody>
          <a:bodyPr anchor="t" rtlCol="false" tIns="0" lIns="0" bIns="0" rIns="0">
            <a:spAutoFit/>
          </a:bodyPr>
          <a:lstStyle/>
          <a:p>
            <a:pPr algn="ctr" marL="0" indent="0" lvl="0">
              <a:lnSpc>
                <a:spcPts val="2419"/>
              </a:lnSpc>
              <a:spcBef>
                <a:spcPct val="0"/>
              </a:spcBef>
            </a:pPr>
            <a:r>
              <a:rPr lang="en-US" sz="2199" spc="43">
                <a:solidFill>
                  <a:srgbClr val="F6E7D8"/>
                </a:solidFill>
                <a:latin typeface="Open Sans"/>
                <a:ea typeface="Open Sans"/>
                <a:cs typeface="Open Sans"/>
                <a:sym typeface="Open Sans"/>
              </a:rPr>
              <a:t>Develop critical thinking skills to discern legitimate requests from potential phishing attempts</a:t>
            </a:r>
          </a:p>
        </p:txBody>
      </p:sp>
      <p:grpSp>
        <p:nvGrpSpPr>
          <p:cNvPr name="Group 6" id="6"/>
          <p:cNvGrpSpPr/>
          <p:nvPr/>
        </p:nvGrpSpPr>
        <p:grpSpPr>
          <a:xfrm rot="0">
            <a:off x="3305195" y="4481171"/>
            <a:ext cx="1239263" cy="1239263"/>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sp>
        <p:nvSpPr>
          <p:cNvPr name="TextBox 8" id="8"/>
          <p:cNvSpPr txBox="true"/>
          <p:nvPr/>
        </p:nvSpPr>
        <p:spPr>
          <a:xfrm rot="0">
            <a:off x="3305195" y="4389158"/>
            <a:ext cx="1239263" cy="1194689"/>
          </a:xfrm>
          <a:prstGeom prst="rect">
            <a:avLst/>
          </a:prstGeom>
        </p:spPr>
        <p:txBody>
          <a:bodyPr anchor="t" rtlCol="false" tIns="0" lIns="0" bIns="0" rIns="0">
            <a:spAutoFit/>
          </a:bodyPr>
          <a:lstStyle/>
          <a:p>
            <a:pPr algn="ctr" marL="0" indent="0" lvl="1">
              <a:lnSpc>
                <a:spcPts val="10047"/>
              </a:lnSpc>
              <a:spcBef>
                <a:spcPct val="0"/>
              </a:spcBef>
            </a:pPr>
            <a:r>
              <a:rPr lang="en-US" b="true" sz="6399" spc="319" u="none">
                <a:solidFill>
                  <a:srgbClr val="F6E7D8"/>
                </a:solidFill>
                <a:latin typeface="Open Sans Bold"/>
                <a:ea typeface="Open Sans Bold"/>
                <a:cs typeface="Open Sans Bold"/>
                <a:sym typeface="Open Sans Bold"/>
              </a:rPr>
              <a:t>1</a:t>
            </a:r>
          </a:p>
        </p:txBody>
      </p:sp>
      <p:grpSp>
        <p:nvGrpSpPr>
          <p:cNvPr name="Group 9" id="9"/>
          <p:cNvGrpSpPr/>
          <p:nvPr/>
        </p:nvGrpSpPr>
        <p:grpSpPr>
          <a:xfrm rot="0">
            <a:off x="8524368" y="4481171"/>
            <a:ext cx="1239263" cy="1239263"/>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sp>
        <p:nvSpPr>
          <p:cNvPr name="TextBox 11" id="11"/>
          <p:cNvSpPr txBox="true"/>
          <p:nvPr/>
        </p:nvSpPr>
        <p:spPr>
          <a:xfrm rot="0">
            <a:off x="8524368" y="4389158"/>
            <a:ext cx="1239263" cy="1194689"/>
          </a:xfrm>
          <a:prstGeom prst="rect">
            <a:avLst/>
          </a:prstGeom>
        </p:spPr>
        <p:txBody>
          <a:bodyPr anchor="t" rtlCol="false" tIns="0" lIns="0" bIns="0" rIns="0">
            <a:spAutoFit/>
          </a:bodyPr>
          <a:lstStyle/>
          <a:p>
            <a:pPr algn="ctr" marL="0" indent="0" lvl="1">
              <a:lnSpc>
                <a:spcPts val="10047"/>
              </a:lnSpc>
              <a:spcBef>
                <a:spcPct val="0"/>
              </a:spcBef>
            </a:pPr>
            <a:r>
              <a:rPr lang="en-US" b="true" sz="6399" spc="319" u="none">
                <a:solidFill>
                  <a:srgbClr val="F6E7D8"/>
                </a:solidFill>
                <a:latin typeface="Open Sans Bold"/>
                <a:ea typeface="Open Sans Bold"/>
                <a:cs typeface="Open Sans Bold"/>
                <a:sym typeface="Open Sans Bold"/>
              </a:rPr>
              <a:t>2</a:t>
            </a:r>
          </a:p>
        </p:txBody>
      </p:sp>
      <p:grpSp>
        <p:nvGrpSpPr>
          <p:cNvPr name="Group 12" id="12"/>
          <p:cNvGrpSpPr/>
          <p:nvPr/>
        </p:nvGrpSpPr>
        <p:grpSpPr>
          <a:xfrm rot="0">
            <a:off x="13743542" y="4481171"/>
            <a:ext cx="1239263" cy="1239263"/>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sp>
        <p:nvSpPr>
          <p:cNvPr name="TextBox 14" id="14"/>
          <p:cNvSpPr txBox="true"/>
          <p:nvPr/>
        </p:nvSpPr>
        <p:spPr>
          <a:xfrm rot="0">
            <a:off x="13743542" y="4389158"/>
            <a:ext cx="1239263" cy="1194689"/>
          </a:xfrm>
          <a:prstGeom prst="rect">
            <a:avLst/>
          </a:prstGeom>
        </p:spPr>
        <p:txBody>
          <a:bodyPr anchor="t" rtlCol="false" tIns="0" lIns="0" bIns="0" rIns="0">
            <a:spAutoFit/>
          </a:bodyPr>
          <a:lstStyle/>
          <a:p>
            <a:pPr algn="ctr" marL="0" indent="0" lvl="1">
              <a:lnSpc>
                <a:spcPts val="10047"/>
              </a:lnSpc>
              <a:spcBef>
                <a:spcPct val="0"/>
              </a:spcBef>
            </a:pPr>
            <a:r>
              <a:rPr lang="en-US" b="true" sz="6399" spc="319" u="none">
                <a:solidFill>
                  <a:srgbClr val="F6E7D8"/>
                </a:solidFill>
                <a:latin typeface="Open Sans Bold"/>
                <a:ea typeface="Open Sans Bold"/>
                <a:cs typeface="Open Sans Bold"/>
                <a:sym typeface="Open Sans Bold"/>
              </a:rPr>
              <a:t>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C191A"/>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0617126" y="6775979"/>
            <a:ext cx="737744" cy="801896"/>
          </a:xfrm>
          <a:prstGeom prst="rect">
            <a:avLst/>
          </a:prstGeom>
        </p:spPr>
      </p:pic>
      <p:sp>
        <p:nvSpPr>
          <p:cNvPr name="Freeform 3" id="3"/>
          <p:cNvSpPr/>
          <p:nvPr/>
        </p:nvSpPr>
        <p:spPr>
          <a:xfrm flipH="false" flipV="false" rot="0">
            <a:off x="10617126" y="1872476"/>
            <a:ext cx="5617035" cy="4339160"/>
          </a:xfrm>
          <a:custGeom>
            <a:avLst/>
            <a:gdLst/>
            <a:ahLst/>
            <a:cxnLst/>
            <a:rect r="r" b="b" t="t" l="l"/>
            <a:pathLst>
              <a:path h="4339160" w="5617035">
                <a:moveTo>
                  <a:pt x="0" y="0"/>
                </a:moveTo>
                <a:lnTo>
                  <a:pt x="5617035" y="0"/>
                </a:lnTo>
                <a:lnTo>
                  <a:pt x="5617035" y="4339160"/>
                </a:lnTo>
                <a:lnTo>
                  <a:pt x="0" y="4339160"/>
                </a:lnTo>
                <a:lnTo>
                  <a:pt x="0" y="0"/>
                </a:lnTo>
                <a:close/>
              </a:path>
            </a:pathLst>
          </a:custGeom>
          <a:blipFill>
            <a:blip r:embed="rId3"/>
            <a:stretch>
              <a:fillRect l="0" t="0" r="0" b="0"/>
            </a:stretch>
          </a:blipFill>
        </p:spPr>
      </p:sp>
      <p:sp>
        <p:nvSpPr>
          <p:cNvPr name="TextBox 4" id="4"/>
          <p:cNvSpPr txBox="true"/>
          <p:nvPr/>
        </p:nvSpPr>
        <p:spPr>
          <a:xfrm rot="0">
            <a:off x="1311626" y="1768756"/>
            <a:ext cx="6610201" cy="2273300"/>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WHAT IS PHISHING?</a:t>
            </a:r>
          </a:p>
        </p:txBody>
      </p:sp>
      <p:sp>
        <p:nvSpPr>
          <p:cNvPr name="TextBox 5" id="5"/>
          <p:cNvSpPr txBox="true"/>
          <p:nvPr/>
        </p:nvSpPr>
        <p:spPr>
          <a:xfrm rot="0">
            <a:off x="1591616" y="4358432"/>
            <a:ext cx="5676900" cy="4277995"/>
          </a:xfrm>
          <a:prstGeom prst="rect">
            <a:avLst/>
          </a:prstGeom>
        </p:spPr>
        <p:txBody>
          <a:bodyPr anchor="t" rtlCol="false" tIns="0" lIns="0" bIns="0" rIns="0">
            <a:spAutoFit/>
          </a:bodyPr>
          <a:lstStyle/>
          <a:p>
            <a:pPr algn="l">
              <a:lnSpc>
                <a:spcPts val="3079"/>
              </a:lnSpc>
            </a:pPr>
            <a:r>
              <a:rPr lang="en-US" sz="2199" spc="43">
                <a:solidFill>
                  <a:srgbClr val="F6E7D8"/>
                </a:solidFill>
                <a:latin typeface="Open Sans"/>
                <a:ea typeface="Open Sans"/>
                <a:cs typeface="Open Sans"/>
                <a:sym typeface="Open Sans"/>
              </a:rPr>
              <a:t>Phishing is when someone tries to trick you into revealing personal information like your password, credit card numbers, or social security number.</a:t>
            </a:r>
          </a:p>
          <a:p>
            <a:pPr algn="l">
              <a:lnSpc>
                <a:spcPts val="3079"/>
              </a:lnSpc>
            </a:pPr>
          </a:p>
          <a:p>
            <a:pPr algn="l">
              <a:lnSpc>
                <a:spcPts val="3079"/>
              </a:lnSpc>
            </a:pPr>
            <a:r>
              <a:rPr lang="en-US" sz="2199" spc="43">
                <a:solidFill>
                  <a:srgbClr val="F6E7D8"/>
                </a:solidFill>
                <a:latin typeface="Open Sans"/>
                <a:ea typeface="Open Sans"/>
                <a:cs typeface="Open Sans"/>
                <a:sym typeface="Open Sans"/>
              </a:rPr>
              <a:t>These attacks usually arrive via:</a:t>
            </a:r>
          </a:p>
          <a:p>
            <a:pPr algn="l" marL="474979" indent="-237490" lvl="1">
              <a:lnSpc>
                <a:spcPts val="3079"/>
              </a:lnSpc>
              <a:buFont typeface="Arial"/>
              <a:buChar char="•"/>
            </a:pPr>
            <a:r>
              <a:rPr lang="en-US" sz="2199" spc="43">
                <a:solidFill>
                  <a:srgbClr val="F6E7D8"/>
                </a:solidFill>
                <a:latin typeface="Open Sans"/>
                <a:ea typeface="Open Sans"/>
                <a:cs typeface="Open Sans"/>
                <a:sym typeface="Open Sans"/>
              </a:rPr>
              <a:t>Emails</a:t>
            </a:r>
          </a:p>
          <a:p>
            <a:pPr algn="l" marL="474979" indent="-237490" lvl="1">
              <a:lnSpc>
                <a:spcPts val="3079"/>
              </a:lnSpc>
              <a:buFont typeface="Arial"/>
              <a:buChar char="•"/>
            </a:pPr>
            <a:r>
              <a:rPr lang="en-US" sz="2199" spc="43">
                <a:solidFill>
                  <a:srgbClr val="F6E7D8"/>
                </a:solidFill>
                <a:latin typeface="Open Sans"/>
                <a:ea typeface="Open Sans"/>
                <a:cs typeface="Open Sans"/>
                <a:sym typeface="Open Sans"/>
              </a:rPr>
              <a:t>SMS (Smishing)</a:t>
            </a:r>
          </a:p>
          <a:p>
            <a:pPr algn="l" marL="474979" indent="-237490" lvl="1">
              <a:lnSpc>
                <a:spcPts val="3079"/>
              </a:lnSpc>
              <a:buFont typeface="Arial"/>
              <a:buChar char="•"/>
            </a:pPr>
            <a:r>
              <a:rPr lang="en-US" sz="2199" spc="43">
                <a:solidFill>
                  <a:srgbClr val="F6E7D8"/>
                </a:solidFill>
                <a:latin typeface="Open Sans"/>
                <a:ea typeface="Open Sans"/>
                <a:cs typeface="Open Sans"/>
                <a:sym typeface="Open Sans"/>
              </a:rPr>
              <a:t>Phone calls (Vishing)</a:t>
            </a:r>
          </a:p>
          <a:p>
            <a:pPr algn="l" marL="474979" indent="-237490" lvl="1">
              <a:lnSpc>
                <a:spcPts val="3079"/>
              </a:lnSpc>
              <a:spcBef>
                <a:spcPct val="0"/>
              </a:spcBef>
              <a:buFont typeface="Arial"/>
              <a:buChar char="•"/>
            </a:pPr>
            <a:r>
              <a:rPr lang="en-US" sz="2199" spc="43">
                <a:solidFill>
                  <a:srgbClr val="F6E7D8"/>
                </a:solidFill>
                <a:latin typeface="Open Sans"/>
                <a:ea typeface="Open Sans"/>
                <a:cs typeface="Open Sans"/>
                <a:sym typeface="Open Sans"/>
              </a:rPr>
              <a:t>Fake websites &amp; social media messages</a:t>
            </a:r>
          </a:p>
        </p:txBody>
      </p:sp>
      <p:sp>
        <p:nvSpPr>
          <p:cNvPr name="TextBox 6" id="6"/>
          <p:cNvSpPr txBox="true"/>
          <p:nvPr/>
        </p:nvSpPr>
        <p:spPr>
          <a:xfrm rot="0">
            <a:off x="11529581" y="6747404"/>
            <a:ext cx="4450071" cy="925830"/>
          </a:xfrm>
          <a:prstGeom prst="rect">
            <a:avLst/>
          </a:prstGeom>
        </p:spPr>
        <p:txBody>
          <a:bodyPr anchor="t" rtlCol="false" tIns="0" lIns="0" bIns="0" rIns="0">
            <a:spAutoFit/>
          </a:bodyPr>
          <a:lstStyle/>
          <a:p>
            <a:pPr algn="l">
              <a:lnSpc>
                <a:spcPts val="2520"/>
              </a:lnSpc>
            </a:pPr>
            <a:r>
              <a:rPr lang="en-US" sz="1800" i="true">
                <a:solidFill>
                  <a:srgbClr val="DBF3F7"/>
                </a:solidFill>
                <a:latin typeface="Open Sans Italics"/>
                <a:ea typeface="Open Sans Italics"/>
                <a:cs typeface="Open Sans Italics"/>
                <a:sym typeface="Open Sans Italics"/>
              </a:rPr>
              <a:t>Think of an email or message you received that asked for personal information. What made it suspicious?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C191A"/>
        </a:solidFill>
      </p:bgPr>
    </p:bg>
    <p:spTree>
      <p:nvGrpSpPr>
        <p:cNvPr id="1" name=""/>
        <p:cNvGrpSpPr/>
        <p:nvPr/>
      </p:nvGrpSpPr>
      <p:grpSpPr>
        <a:xfrm>
          <a:off x="0" y="0"/>
          <a:ext cx="0" cy="0"/>
          <a:chOff x="0" y="0"/>
          <a:chExt cx="0" cy="0"/>
        </a:xfrm>
      </p:grpSpPr>
      <p:grpSp>
        <p:nvGrpSpPr>
          <p:cNvPr name="Group 2" id="2"/>
          <p:cNvGrpSpPr/>
          <p:nvPr/>
        </p:nvGrpSpPr>
        <p:grpSpPr>
          <a:xfrm rot="0">
            <a:off x="3305195" y="4481171"/>
            <a:ext cx="1239263" cy="123926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1D9DD"/>
            </a:solidFill>
          </p:spPr>
        </p:sp>
      </p:grpSp>
      <p:grpSp>
        <p:nvGrpSpPr>
          <p:cNvPr name="Group 4" id="4"/>
          <p:cNvGrpSpPr/>
          <p:nvPr/>
        </p:nvGrpSpPr>
        <p:grpSpPr>
          <a:xfrm rot="0">
            <a:off x="8524368" y="4481171"/>
            <a:ext cx="1239263" cy="1239263"/>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1D9DD"/>
            </a:solidFill>
          </p:spPr>
        </p:sp>
      </p:grpSp>
      <p:grpSp>
        <p:nvGrpSpPr>
          <p:cNvPr name="Group 6" id="6"/>
          <p:cNvGrpSpPr/>
          <p:nvPr/>
        </p:nvGrpSpPr>
        <p:grpSpPr>
          <a:xfrm rot="0">
            <a:off x="13743542" y="4481171"/>
            <a:ext cx="1239263" cy="1239263"/>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1D9DD"/>
            </a:solidFill>
          </p:spPr>
        </p:sp>
      </p:grpSp>
      <p:sp>
        <p:nvSpPr>
          <p:cNvPr name="Freeform 8" id="8"/>
          <p:cNvSpPr/>
          <p:nvPr/>
        </p:nvSpPr>
        <p:spPr>
          <a:xfrm flipH="false" flipV="false" rot="0">
            <a:off x="3598653" y="4886714"/>
            <a:ext cx="652347" cy="428177"/>
          </a:xfrm>
          <a:custGeom>
            <a:avLst/>
            <a:gdLst/>
            <a:ahLst/>
            <a:cxnLst/>
            <a:rect r="r" b="b" t="t" l="l"/>
            <a:pathLst>
              <a:path h="428177" w="652347">
                <a:moveTo>
                  <a:pt x="0" y="0"/>
                </a:moveTo>
                <a:lnTo>
                  <a:pt x="652347" y="0"/>
                </a:lnTo>
                <a:lnTo>
                  <a:pt x="652347" y="428177"/>
                </a:lnTo>
                <a:lnTo>
                  <a:pt x="0" y="428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849514" y="4831716"/>
            <a:ext cx="588972" cy="538173"/>
          </a:xfrm>
          <a:custGeom>
            <a:avLst/>
            <a:gdLst/>
            <a:ahLst/>
            <a:cxnLst/>
            <a:rect r="r" b="b" t="t" l="l"/>
            <a:pathLst>
              <a:path h="538173" w="588972">
                <a:moveTo>
                  <a:pt x="0" y="0"/>
                </a:moveTo>
                <a:lnTo>
                  <a:pt x="588972" y="0"/>
                </a:lnTo>
                <a:lnTo>
                  <a:pt x="588972" y="538173"/>
                </a:lnTo>
                <a:lnTo>
                  <a:pt x="0" y="5381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040357" y="4823572"/>
            <a:ext cx="574892" cy="574892"/>
          </a:xfrm>
          <a:custGeom>
            <a:avLst/>
            <a:gdLst/>
            <a:ahLst/>
            <a:cxnLst/>
            <a:rect r="r" b="b" t="t" l="l"/>
            <a:pathLst>
              <a:path h="574892" w="574892">
                <a:moveTo>
                  <a:pt x="0" y="0"/>
                </a:moveTo>
                <a:lnTo>
                  <a:pt x="574892" y="0"/>
                </a:lnTo>
                <a:lnTo>
                  <a:pt x="574892" y="574892"/>
                </a:lnTo>
                <a:lnTo>
                  <a:pt x="0" y="5748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3083430" y="1768756"/>
            <a:ext cx="12121140" cy="1158875"/>
          </a:xfrm>
          <a:prstGeom prst="rect">
            <a:avLst/>
          </a:prstGeom>
        </p:spPr>
        <p:txBody>
          <a:bodyPr anchor="t" rtlCol="false" tIns="0" lIns="0" bIns="0" rIns="0">
            <a:spAutoFit/>
          </a:bodyPr>
          <a:lstStyle/>
          <a:p>
            <a:pPr algn="ctr" marL="0" indent="0" lvl="0">
              <a:lnSpc>
                <a:spcPts val="8800"/>
              </a:lnSpc>
            </a:pPr>
            <a:r>
              <a:rPr lang="en-US" sz="8000" spc="160">
                <a:solidFill>
                  <a:srgbClr val="F6E7D8"/>
                </a:solidFill>
                <a:latin typeface="Archivo Black"/>
                <a:ea typeface="Archivo Black"/>
                <a:cs typeface="Archivo Black"/>
                <a:sym typeface="Archivo Black"/>
              </a:rPr>
              <a:t>TYPES OF PHISHING</a:t>
            </a:r>
          </a:p>
        </p:txBody>
      </p:sp>
      <p:sp>
        <p:nvSpPr>
          <p:cNvPr name="TextBox 12" id="12"/>
          <p:cNvSpPr txBox="true"/>
          <p:nvPr/>
        </p:nvSpPr>
        <p:spPr>
          <a:xfrm rot="0">
            <a:off x="4973003" y="3014321"/>
            <a:ext cx="8341993" cy="514350"/>
          </a:xfrm>
          <a:prstGeom prst="rect">
            <a:avLst/>
          </a:prstGeom>
        </p:spPr>
        <p:txBody>
          <a:bodyPr anchor="t" rtlCol="false" tIns="0" lIns="0" bIns="0" rIns="0">
            <a:spAutoFit/>
          </a:bodyPr>
          <a:lstStyle/>
          <a:p>
            <a:pPr algn="ctr" marL="0" indent="0" lvl="0">
              <a:lnSpc>
                <a:spcPts val="4200"/>
              </a:lnSpc>
              <a:spcBef>
                <a:spcPct val="0"/>
              </a:spcBef>
            </a:pPr>
            <a:r>
              <a:rPr lang="en-US" sz="3000" spc="60">
                <a:solidFill>
                  <a:srgbClr val="F6E7D8"/>
                </a:solidFill>
                <a:latin typeface="Open Sans"/>
                <a:ea typeface="Open Sans"/>
                <a:cs typeface="Open Sans"/>
                <a:sym typeface="Open Sans"/>
              </a:rPr>
              <a:t>Phishing attacks come in different forms</a:t>
            </a:r>
          </a:p>
        </p:txBody>
      </p:sp>
      <p:sp>
        <p:nvSpPr>
          <p:cNvPr name="TextBox 13" id="13"/>
          <p:cNvSpPr txBox="true"/>
          <p:nvPr/>
        </p:nvSpPr>
        <p:spPr>
          <a:xfrm rot="0">
            <a:off x="2363077" y="6046558"/>
            <a:ext cx="3260688" cy="481330"/>
          </a:xfrm>
          <a:prstGeom prst="rect">
            <a:avLst/>
          </a:prstGeom>
        </p:spPr>
        <p:txBody>
          <a:bodyPr anchor="t" rtlCol="false" tIns="0" lIns="0" bIns="0" rIns="0">
            <a:spAutoFit/>
          </a:bodyPr>
          <a:lstStyle/>
          <a:p>
            <a:pPr algn="ctr" marL="0" indent="0" lvl="0">
              <a:lnSpc>
                <a:spcPts val="3919"/>
              </a:lnSpc>
              <a:spcBef>
                <a:spcPct val="0"/>
              </a:spcBef>
            </a:pPr>
            <a:r>
              <a:rPr lang="en-US" b="true" sz="2799" spc="55">
                <a:solidFill>
                  <a:srgbClr val="F6E7D8"/>
                </a:solidFill>
                <a:latin typeface="Open Sans Bold"/>
                <a:ea typeface="Open Sans Bold"/>
                <a:cs typeface="Open Sans Bold"/>
                <a:sym typeface="Open Sans Bold"/>
              </a:rPr>
              <a:t>EMAIL PHISHING</a:t>
            </a:r>
          </a:p>
        </p:txBody>
      </p:sp>
      <p:sp>
        <p:nvSpPr>
          <p:cNvPr name="TextBox 14" id="14"/>
          <p:cNvSpPr txBox="true"/>
          <p:nvPr/>
        </p:nvSpPr>
        <p:spPr>
          <a:xfrm rot="0">
            <a:off x="2412549" y="6832688"/>
            <a:ext cx="3211216" cy="1228090"/>
          </a:xfrm>
          <a:prstGeom prst="rect">
            <a:avLst/>
          </a:prstGeom>
        </p:spPr>
        <p:txBody>
          <a:bodyPr anchor="t" rtlCol="false" tIns="0" lIns="0" bIns="0" rIns="0">
            <a:spAutoFit/>
          </a:bodyPr>
          <a:lstStyle/>
          <a:p>
            <a:pPr algn="ctr">
              <a:lnSpc>
                <a:spcPts val="2419"/>
              </a:lnSpc>
            </a:pPr>
            <a:r>
              <a:rPr lang="en-US" sz="2199" spc="43">
                <a:solidFill>
                  <a:srgbClr val="F6E7D8"/>
                </a:solidFill>
                <a:latin typeface="Open Sans"/>
                <a:ea typeface="Open Sans"/>
                <a:cs typeface="Open Sans"/>
                <a:sym typeface="Open Sans"/>
              </a:rPr>
              <a:t>Scammers send fake emails pretending to be a trustworthy organization</a:t>
            </a:r>
          </a:p>
        </p:txBody>
      </p:sp>
      <p:sp>
        <p:nvSpPr>
          <p:cNvPr name="TextBox 15" id="15"/>
          <p:cNvSpPr txBox="true"/>
          <p:nvPr/>
        </p:nvSpPr>
        <p:spPr>
          <a:xfrm rot="0">
            <a:off x="7513656" y="6046558"/>
            <a:ext cx="3260688" cy="481330"/>
          </a:xfrm>
          <a:prstGeom prst="rect">
            <a:avLst/>
          </a:prstGeom>
        </p:spPr>
        <p:txBody>
          <a:bodyPr anchor="t" rtlCol="false" tIns="0" lIns="0" bIns="0" rIns="0">
            <a:spAutoFit/>
          </a:bodyPr>
          <a:lstStyle/>
          <a:p>
            <a:pPr algn="ctr" marL="0" indent="0" lvl="0">
              <a:lnSpc>
                <a:spcPts val="3919"/>
              </a:lnSpc>
              <a:spcBef>
                <a:spcPct val="0"/>
              </a:spcBef>
            </a:pPr>
            <a:r>
              <a:rPr lang="en-US" b="true" sz="2799" spc="55">
                <a:solidFill>
                  <a:srgbClr val="F6E7D8"/>
                </a:solidFill>
                <a:latin typeface="Open Sans Bold"/>
                <a:ea typeface="Open Sans Bold"/>
                <a:cs typeface="Open Sans Bold"/>
                <a:sym typeface="Open Sans Bold"/>
              </a:rPr>
              <a:t>SMISHING</a:t>
            </a:r>
          </a:p>
        </p:txBody>
      </p:sp>
      <p:sp>
        <p:nvSpPr>
          <p:cNvPr name="TextBox 16" id="16"/>
          <p:cNvSpPr txBox="true"/>
          <p:nvPr/>
        </p:nvSpPr>
        <p:spPr>
          <a:xfrm rot="0">
            <a:off x="7563128" y="6832688"/>
            <a:ext cx="3211216" cy="1228090"/>
          </a:xfrm>
          <a:prstGeom prst="rect">
            <a:avLst/>
          </a:prstGeom>
        </p:spPr>
        <p:txBody>
          <a:bodyPr anchor="t" rtlCol="false" tIns="0" lIns="0" bIns="0" rIns="0">
            <a:spAutoFit/>
          </a:bodyPr>
          <a:lstStyle/>
          <a:p>
            <a:pPr algn="ctr">
              <a:lnSpc>
                <a:spcPts val="2419"/>
              </a:lnSpc>
            </a:pPr>
            <a:r>
              <a:rPr lang="en-US" sz="2199" spc="43">
                <a:solidFill>
                  <a:srgbClr val="F6E7D8"/>
                </a:solidFill>
                <a:latin typeface="Open Sans"/>
                <a:ea typeface="Open Sans"/>
                <a:cs typeface="Open Sans"/>
                <a:sym typeface="Open Sans"/>
              </a:rPr>
              <a:t>Scammers send text messages with fake links or requests for personal information</a:t>
            </a:r>
          </a:p>
        </p:txBody>
      </p:sp>
      <p:sp>
        <p:nvSpPr>
          <p:cNvPr name="TextBox 17" id="17"/>
          <p:cNvSpPr txBox="true"/>
          <p:nvPr/>
        </p:nvSpPr>
        <p:spPr>
          <a:xfrm rot="0">
            <a:off x="12732829" y="6046558"/>
            <a:ext cx="3260688" cy="976630"/>
          </a:xfrm>
          <a:prstGeom prst="rect">
            <a:avLst/>
          </a:prstGeom>
        </p:spPr>
        <p:txBody>
          <a:bodyPr anchor="t" rtlCol="false" tIns="0" lIns="0" bIns="0" rIns="0">
            <a:spAutoFit/>
          </a:bodyPr>
          <a:lstStyle/>
          <a:p>
            <a:pPr algn="ctr" marL="0" indent="0" lvl="0">
              <a:lnSpc>
                <a:spcPts val="3919"/>
              </a:lnSpc>
              <a:spcBef>
                <a:spcPct val="0"/>
              </a:spcBef>
            </a:pPr>
            <a:r>
              <a:rPr lang="en-US" b="true" sz="2799" spc="55">
                <a:solidFill>
                  <a:srgbClr val="F6E7D8"/>
                </a:solidFill>
                <a:latin typeface="Open Sans Bold"/>
                <a:ea typeface="Open Sans Bold"/>
                <a:cs typeface="Open Sans Bold"/>
                <a:sym typeface="Open Sans Bold"/>
              </a:rPr>
              <a:t>SOCIAL MEDIA PHISHING</a:t>
            </a:r>
          </a:p>
        </p:txBody>
      </p:sp>
      <p:sp>
        <p:nvSpPr>
          <p:cNvPr name="TextBox 18" id="18"/>
          <p:cNvSpPr txBox="true"/>
          <p:nvPr/>
        </p:nvSpPr>
        <p:spPr>
          <a:xfrm rot="0">
            <a:off x="12782301" y="7327988"/>
            <a:ext cx="3211216" cy="1532890"/>
          </a:xfrm>
          <a:prstGeom prst="rect">
            <a:avLst/>
          </a:prstGeom>
        </p:spPr>
        <p:txBody>
          <a:bodyPr anchor="t" rtlCol="false" tIns="0" lIns="0" bIns="0" rIns="0">
            <a:spAutoFit/>
          </a:bodyPr>
          <a:lstStyle/>
          <a:p>
            <a:pPr algn="ctr">
              <a:lnSpc>
                <a:spcPts val="2419"/>
              </a:lnSpc>
            </a:pPr>
            <a:r>
              <a:rPr lang="en-US" sz="2199" spc="43">
                <a:solidFill>
                  <a:srgbClr val="F6E7D8"/>
                </a:solidFill>
                <a:latin typeface="Open Sans"/>
                <a:ea typeface="Open Sans"/>
                <a:cs typeface="Open Sans"/>
                <a:sym typeface="Open Sans"/>
              </a:rPr>
              <a:t>Scammers create fake profiles or posts to trick you into clicking on links or sharing personal informaion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C191A"/>
        </a:solidFill>
      </p:bgPr>
    </p:bg>
    <p:spTree>
      <p:nvGrpSpPr>
        <p:cNvPr id="1" name=""/>
        <p:cNvGrpSpPr/>
        <p:nvPr/>
      </p:nvGrpSpPr>
      <p:grpSpPr>
        <a:xfrm>
          <a:off x="0" y="0"/>
          <a:ext cx="0" cy="0"/>
          <a:chOff x="0" y="0"/>
          <a:chExt cx="0" cy="0"/>
        </a:xfrm>
      </p:grpSpPr>
      <p:grpSp>
        <p:nvGrpSpPr>
          <p:cNvPr name="Group 2" id="2"/>
          <p:cNvGrpSpPr/>
          <p:nvPr/>
        </p:nvGrpSpPr>
        <p:grpSpPr>
          <a:xfrm rot="0">
            <a:off x="10232362" y="3564087"/>
            <a:ext cx="388922" cy="388922"/>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grpSp>
        <p:nvGrpSpPr>
          <p:cNvPr name="Group 4" id="4"/>
          <p:cNvGrpSpPr/>
          <p:nvPr/>
        </p:nvGrpSpPr>
        <p:grpSpPr>
          <a:xfrm rot="0">
            <a:off x="10232362" y="4379180"/>
            <a:ext cx="388922" cy="38892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grpSp>
        <p:nvGrpSpPr>
          <p:cNvPr name="Group 6" id="6"/>
          <p:cNvGrpSpPr/>
          <p:nvPr/>
        </p:nvGrpSpPr>
        <p:grpSpPr>
          <a:xfrm rot="0">
            <a:off x="10232362" y="5234827"/>
            <a:ext cx="388922" cy="388922"/>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grpSp>
        <p:nvGrpSpPr>
          <p:cNvPr name="Group 8" id="8"/>
          <p:cNvGrpSpPr/>
          <p:nvPr/>
        </p:nvGrpSpPr>
        <p:grpSpPr>
          <a:xfrm rot="0">
            <a:off x="10232362" y="6052374"/>
            <a:ext cx="388922" cy="388922"/>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grpSp>
        <p:nvGrpSpPr>
          <p:cNvPr name="Group 10" id="10"/>
          <p:cNvGrpSpPr/>
          <p:nvPr/>
        </p:nvGrpSpPr>
        <p:grpSpPr>
          <a:xfrm rot="0">
            <a:off x="10232362" y="6869921"/>
            <a:ext cx="388922" cy="388922"/>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grpSp>
        <p:nvGrpSpPr>
          <p:cNvPr name="Group 12" id="12"/>
          <p:cNvGrpSpPr/>
          <p:nvPr/>
        </p:nvGrpSpPr>
        <p:grpSpPr>
          <a:xfrm rot="0">
            <a:off x="10232362" y="7682560"/>
            <a:ext cx="388922" cy="388922"/>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grpSp>
        <p:nvGrpSpPr>
          <p:cNvPr name="Group 14" id="14"/>
          <p:cNvGrpSpPr/>
          <p:nvPr/>
        </p:nvGrpSpPr>
        <p:grpSpPr>
          <a:xfrm rot="0">
            <a:off x="10232362" y="8500107"/>
            <a:ext cx="388922" cy="388922"/>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66666"/>
            </a:solidFill>
          </p:spPr>
        </p:sp>
      </p:grpSp>
      <p:sp>
        <p:nvSpPr>
          <p:cNvPr name="Freeform 16" id="16"/>
          <p:cNvSpPr/>
          <p:nvPr/>
        </p:nvSpPr>
        <p:spPr>
          <a:xfrm flipH="false" flipV="false" rot="0">
            <a:off x="1591616" y="5563591"/>
            <a:ext cx="6674950" cy="4575477"/>
          </a:xfrm>
          <a:custGeom>
            <a:avLst/>
            <a:gdLst/>
            <a:ahLst/>
            <a:cxnLst/>
            <a:rect r="r" b="b" t="t" l="l"/>
            <a:pathLst>
              <a:path h="4575477" w="6674950">
                <a:moveTo>
                  <a:pt x="0" y="0"/>
                </a:moveTo>
                <a:lnTo>
                  <a:pt x="6674950" y="0"/>
                </a:lnTo>
                <a:lnTo>
                  <a:pt x="6674950" y="4575476"/>
                </a:lnTo>
                <a:lnTo>
                  <a:pt x="0" y="4575476"/>
                </a:lnTo>
                <a:lnTo>
                  <a:pt x="0" y="0"/>
                </a:lnTo>
                <a:close/>
              </a:path>
            </a:pathLst>
          </a:custGeom>
          <a:blipFill>
            <a:blip r:embed="rId2"/>
            <a:stretch>
              <a:fillRect l="0" t="0" r="0" b="-1461"/>
            </a:stretch>
          </a:blipFill>
        </p:spPr>
      </p:sp>
      <p:sp>
        <p:nvSpPr>
          <p:cNvPr name="TextBox 17" id="17"/>
          <p:cNvSpPr txBox="true"/>
          <p:nvPr/>
        </p:nvSpPr>
        <p:spPr>
          <a:xfrm rot="0">
            <a:off x="1311626" y="1768756"/>
            <a:ext cx="6610201" cy="1158875"/>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RED FLAGS</a:t>
            </a:r>
          </a:p>
        </p:txBody>
      </p:sp>
      <p:sp>
        <p:nvSpPr>
          <p:cNvPr name="TextBox 18" id="18"/>
          <p:cNvSpPr txBox="true"/>
          <p:nvPr/>
        </p:nvSpPr>
        <p:spPr>
          <a:xfrm rot="0">
            <a:off x="1591616" y="3341934"/>
            <a:ext cx="5676900" cy="1934845"/>
          </a:xfrm>
          <a:prstGeom prst="rect">
            <a:avLst/>
          </a:prstGeom>
        </p:spPr>
        <p:txBody>
          <a:bodyPr anchor="t" rtlCol="false" tIns="0" lIns="0" bIns="0" rIns="0">
            <a:spAutoFit/>
          </a:bodyPr>
          <a:lstStyle/>
          <a:p>
            <a:pPr algn="l" marL="0" indent="0" lvl="0">
              <a:lnSpc>
                <a:spcPts val="3079"/>
              </a:lnSpc>
              <a:spcBef>
                <a:spcPct val="0"/>
              </a:spcBef>
            </a:pPr>
            <a:r>
              <a:rPr lang="en-US" sz="2199" spc="43">
                <a:solidFill>
                  <a:srgbClr val="F6E7D8"/>
                </a:solidFill>
                <a:latin typeface="Open Sans"/>
                <a:ea typeface="Open Sans"/>
                <a:cs typeface="Open Sans"/>
                <a:sym typeface="Open Sans"/>
              </a:rPr>
              <a:t>Red flags in phishing attempts are warning signs or indicators that help individuals identify potential scams. Some common read flags in phishing include:</a:t>
            </a:r>
          </a:p>
        </p:txBody>
      </p:sp>
      <p:sp>
        <p:nvSpPr>
          <p:cNvPr name="TextBox 19" id="19"/>
          <p:cNvSpPr txBox="true"/>
          <p:nvPr/>
        </p:nvSpPr>
        <p:spPr>
          <a:xfrm rot="0">
            <a:off x="10986846" y="3595671"/>
            <a:ext cx="4339169" cy="29718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F6E7D8"/>
                </a:solidFill>
                <a:latin typeface="Open Sans"/>
                <a:ea typeface="Open Sans"/>
                <a:cs typeface="Open Sans"/>
                <a:sym typeface="Open Sans"/>
              </a:rPr>
              <a:t>Urgent or threatening language</a:t>
            </a:r>
          </a:p>
        </p:txBody>
      </p:sp>
      <p:sp>
        <p:nvSpPr>
          <p:cNvPr name="TextBox 20" id="20"/>
          <p:cNvSpPr txBox="true"/>
          <p:nvPr/>
        </p:nvSpPr>
        <p:spPr>
          <a:xfrm rot="0">
            <a:off x="10232362" y="3530753"/>
            <a:ext cx="388922" cy="381869"/>
          </a:xfrm>
          <a:prstGeom prst="rect">
            <a:avLst/>
          </a:prstGeom>
        </p:spPr>
        <p:txBody>
          <a:bodyPr anchor="t" rtlCol="false" tIns="0" lIns="0" bIns="0" rIns="0">
            <a:spAutoFit/>
          </a:bodyPr>
          <a:lstStyle/>
          <a:p>
            <a:pPr algn="ctr" marL="0" indent="0" lvl="1">
              <a:lnSpc>
                <a:spcPts val="3153"/>
              </a:lnSpc>
              <a:spcBef>
                <a:spcPct val="0"/>
              </a:spcBef>
            </a:pPr>
            <a:r>
              <a:rPr lang="en-US" b="true" sz="2008" spc="100" u="none">
                <a:solidFill>
                  <a:srgbClr val="F6E7D8"/>
                </a:solidFill>
                <a:latin typeface="Open Sans Bold"/>
                <a:ea typeface="Open Sans Bold"/>
                <a:cs typeface="Open Sans Bold"/>
                <a:sym typeface="Open Sans Bold"/>
              </a:rPr>
              <a:t>1</a:t>
            </a:r>
          </a:p>
        </p:txBody>
      </p:sp>
      <p:sp>
        <p:nvSpPr>
          <p:cNvPr name="TextBox 21" id="21"/>
          <p:cNvSpPr txBox="true"/>
          <p:nvPr/>
        </p:nvSpPr>
        <p:spPr>
          <a:xfrm rot="0">
            <a:off x="10986846" y="4410764"/>
            <a:ext cx="4339169" cy="29718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F6E7D8"/>
                </a:solidFill>
                <a:latin typeface="Open Sans"/>
                <a:ea typeface="Open Sans"/>
                <a:cs typeface="Open Sans"/>
                <a:sym typeface="Open Sans"/>
              </a:rPr>
              <a:t>Suspicious sender information </a:t>
            </a:r>
          </a:p>
        </p:txBody>
      </p:sp>
      <p:sp>
        <p:nvSpPr>
          <p:cNvPr name="TextBox 22" id="22"/>
          <p:cNvSpPr txBox="true"/>
          <p:nvPr/>
        </p:nvSpPr>
        <p:spPr>
          <a:xfrm rot="0">
            <a:off x="10232362" y="4345845"/>
            <a:ext cx="388922" cy="381869"/>
          </a:xfrm>
          <a:prstGeom prst="rect">
            <a:avLst/>
          </a:prstGeom>
        </p:spPr>
        <p:txBody>
          <a:bodyPr anchor="t" rtlCol="false" tIns="0" lIns="0" bIns="0" rIns="0">
            <a:spAutoFit/>
          </a:bodyPr>
          <a:lstStyle/>
          <a:p>
            <a:pPr algn="ctr" marL="0" indent="0" lvl="1">
              <a:lnSpc>
                <a:spcPts val="3153"/>
              </a:lnSpc>
              <a:spcBef>
                <a:spcPct val="0"/>
              </a:spcBef>
            </a:pPr>
            <a:r>
              <a:rPr lang="en-US" b="true" sz="2008" spc="100">
                <a:solidFill>
                  <a:srgbClr val="F6E7D8"/>
                </a:solidFill>
                <a:latin typeface="Open Sans Bold"/>
                <a:ea typeface="Open Sans Bold"/>
                <a:cs typeface="Open Sans Bold"/>
                <a:sym typeface="Open Sans Bold"/>
              </a:rPr>
              <a:t>2</a:t>
            </a:r>
          </a:p>
        </p:txBody>
      </p:sp>
      <p:sp>
        <p:nvSpPr>
          <p:cNvPr name="TextBox 23" id="23"/>
          <p:cNvSpPr txBox="true"/>
          <p:nvPr/>
        </p:nvSpPr>
        <p:spPr>
          <a:xfrm rot="0">
            <a:off x="10986846" y="5266411"/>
            <a:ext cx="4339169" cy="29718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F6E7D8"/>
                </a:solidFill>
                <a:latin typeface="Open Sans"/>
                <a:ea typeface="Open Sans"/>
                <a:cs typeface="Open Sans"/>
                <a:sym typeface="Open Sans"/>
              </a:rPr>
              <a:t>Requests for personal information</a:t>
            </a:r>
          </a:p>
        </p:txBody>
      </p:sp>
      <p:sp>
        <p:nvSpPr>
          <p:cNvPr name="TextBox 24" id="24"/>
          <p:cNvSpPr txBox="true"/>
          <p:nvPr/>
        </p:nvSpPr>
        <p:spPr>
          <a:xfrm rot="0">
            <a:off x="10232362" y="5201493"/>
            <a:ext cx="388922" cy="381869"/>
          </a:xfrm>
          <a:prstGeom prst="rect">
            <a:avLst/>
          </a:prstGeom>
        </p:spPr>
        <p:txBody>
          <a:bodyPr anchor="t" rtlCol="false" tIns="0" lIns="0" bIns="0" rIns="0">
            <a:spAutoFit/>
          </a:bodyPr>
          <a:lstStyle/>
          <a:p>
            <a:pPr algn="ctr" marL="0" indent="0" lvl="1">
              <a:lnSpc>
                <a:spcPts val="3153"/>
              </a:lnSpc>
              <a:spcBef>
                <a:spcPct val="0"/>
              </a:spcBef>
            </a:pPr>
            <a:r>
              <a:rPr lang="en-US" b="true" sz="2008" spc="100">
                <a:solidFill>
                  <a:srgbClr val="F6E7D8"/>
                </a:solidFill>
                <a:latin typeface="Open Sans Bold"/>
                <a:ea typeface="Open Sans Bold"/>
                <a:cs typeface="Open Sans Bold"/>
                <a:sym typeface="Open Sans Bold"/>
              </a:rPr>
              <a:t>3</a:t>
            </a:r>
          </a:p>
        </p:txBody>
      </p:sp>
      <p:sp>
        <p:nvSpPr>
          <p:cNvPr name="TextBox 25" id="25"/>
          <p:cNvSpPr txBox="true"/>
          <p:nvPr/>
        </p:nvSpPr>
        <p:spPr>
          <a:xfrm rot="0">
            <a:off x="10986846" y="6083958"/>
            <a:ext cx="4339169" cy="29718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F6E7D8"/>
                </a:solidFill>
                <a:latin typeface="Open Sans"/>
                <a:ea typeface="Open Sans"/>
                <a:cs typeface="Open Sans"/>
                <a:sym typeface="Open Sans"/>
              </a:rPr>
              <a:t>Misspellings or grammatical errors</a:t>
            </a:r>
          </a:p>
        </p:txBody>
      </p:sp>
      <p:sp>
        <p:nvSpPr>
          <p:cNvPr name="TextBox 26" id="26"/>
          <p:cNvSpPr txBox="true"/>
          <p:nvPr/>
        </p:nvSpPr>
        <p:spPr>
          <a:xfrm rot="0">
            <a:off x="10232362" y="6019040"/>
            <a:ext cx="388922" cy="381869"/>
          </a:xfrm>
          <a:prstGeom prst="rect">
            <a:avLst/>
          </a:prstGeom>
        </p:spPr>
        <p:txBody>
          <a:bodyPr anchor="t" rtlCol="false" tIns="0" lIns="0" bIns="0" rIns="0">
            <a:spAutoFit/>
          </a:bodyPr>
          <a:lstStyle/>
          <a:p>
            <a:pPr algn="ctr" marL="0" indent="0" lvl="1">
              <a:lnSpc>
                <a:spcPts val="3153"/>
              </a:lnSpc>
              <a:spcBef>
                <a:spcPct val="0"/>
              </a:spcBef>
            </a:pPr>
            <a:r>
              <a:rPr lang="en-US" b="true" sz="2008" spc="100">
                <a:solidFill>
                  <a:srgbClr val="F6E7D8"/>
                </a:solidFill>
                <a:latin typeface="Open Sans Bold"/>
                <a:ea typeface="Open Sans Bold"/>
                <a:cs typeface="Open Sans Bold"/>
                <a:sym typeface="Open Sans Bold"/>
              </a:rPr>
              <a:t>4</a:t>
            </a:r>
          </a:p>
        </p:txBody>
      </p:sp>
      <p:sp>
        <p:nvSpPr>
          <p:cNvPr name="TextBox 27" id="27"/>
          <p:cNvSpPr txBox="true"/>
          <p:nvPr/>
        </p:nvSpPr>
        <p:spPr>
          <a:xfrm rot="0">
            <a:off x="10986846" y="6901505"/>
            <a:ext cx="4339169" cy="29718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F6E7D8"/>
                </a:solidFill>
                <a:latin typeface="Open Sans"/>
                <a:ea typeface="Open Sans"/>
                <a:cs typeface="Open Sans"/>
                <a:sym typeface="Open Sans"/>
              </a:rPr>
              <a:t>Suspicious links or attachments</a:t>
            </a:r>
          </a:p>
        </p:txBody>
      </p:sp>
      <p:sp>
        <p:nvSpPr>
          <p:cNvPr name="TextBox 28" id="28"/>
          <p:cNvSpPr txBox="true"/>
          <p:nvPr/>
        </p:nvSpPr>
        <p:spPr>
          <a:xfrm rot="0">
            <a:off x="10232362" y="6836587"/>
            <a:ext cx="388922" cy="381869"/>
          </a:xfrm>
          <a:prstGeom prst="rect">
            <a:avLst/>
          </a:prstGeom>
        </p:spPr>
        <p:txBody>
          <a:bodyPr anchor="t" rtlCol="false" tIns="0" lIns="0" bIns="0" rIns="0">
            <a:spAutoFit/>
          </a:bodyPr>
          <a:lstStyle/>
          <a:p>
            <a:pPr algn="ctr" marL="0" indent="0" lvl="1">
              <a:lnSpc>
                <a:spcPts val="3153"/>
              </a:lnSpc>
              <a:spcBef>
                <a:spcPct val="0"/>
              </a:spcBef>
            </a:pPr>
            <a:r>
              <a:rPr lang="en-US" b="true" sz="2008" spc="100">
                <a:solidFill>
                  <a:srgbClr val="F6E7D8"/>
                </a:solidFill>
                <a:latin typeface="Open Sans Bold"/>
                <a:ea typeface="Open Sans Bold"/>
                <a:cs typeface="Open Sans Bold"/>
                <a:sym typeface="Open Sans Bold"/>
              </a:rPr>
              <a:t>5</a:t>
            </a:r>
          </a:p>
        </p:txBody>
      </p:sp>
      <p:sp>
        <p:nvSpPr>
          <p:cNvPr name="TextBox 29" id="29"/>
          <p:cNvSpPr txBox="true"/>
          <p:nvPr/>
        </p:nvSpPr>
        <p:spPr>
          <a:xfrm rot="0">
            <a:off x="10986846" y="7714144"/>
            <a:ext cx="4339169" cy="29718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F6E7D8"/>
                </a:solidFill>
                <a:latin typeface="Open Sans"/>
                <a:ea typeface="Open Sans"/>
                <a:cs typeface="Open Sans"/>
                <a:sym typeface="Open Sans"/>
              </a:rPr>
              <a:t>Generic greetings </a:t>
            </a:r>
          </a:p>
        </p:txBody>
      </p:sp>
      <p:sp>
        <p:nvSpPr>
          <p:cNvPr name="TextBox 30" id="30"/>
          <p:cNvSpPr txBox="true"/>
          <p:nvPr/>
        </p:nvSpPr>
        <p:spPr>
          <a:xfrm rot="0">
            <a:off x="10232362" y="7649226"/>
            <a:ext cx="388922" cy="381869"/>
          </a:xfrm>
          <a:prstGeom prst="rect">
            <a:avLst/>
          </a:prstGeom>
        </p:spPr>
        <p:txBody>
          <a:bodyPr anchor="t" rtlCol="false" tIns="0" lIns="0" bIns="0" rIns="0">
            <a:spAutoFit/>
          </a:bodyPr>
          <a:lstStyle/>
          <a:p>
            <a:pPr algn="ctr" marL="0" indent="0" lvl="1">
              <a:lnSpc>
                <a:spcPts val="3153"/>
              </a:lnSpc>
              <a:spcBef>
                <a:spcPct val="0"/>
              </a:spcBef>
            </a:pPr>
            <a:r>
              <a:rPr lang="en-US" b="true" sz="2008" spc="100">
                <a:solidFill>
                  <a:srgbClr val="F6E7D8"/>
                </a:solidFill>
                <a:latin typeface="Open Sans Bold"/>
                <a:ea typeface="Open Sans Bold"/>
                <a:cs typeface="Open Sans Bold"/>
                <a:sym typeface="Open Sans Bold"/>
              </a:rPr>
              <a:t>6</a:t>
            </a:r>
          </a:p>
        </p:txBody>
      </p:sp>
      <p:sp>
        <p:nvSpPr>
          <p:cNvPr name="TextBox 31" id="31"/>
          <p:cNvSpPr txBox="true"/>
          <p:nvPr/>
        </p:nvSpPr>
        <p:spPr>
          <a:xfrm rot="0">
            <a:off x="10986846" y="8531691"/>
            <a:ext cx="4339169" cy="29718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F6E7D8"/>
                </a:solidFill>
                <a:latin typeface="Open Sans"/>
                <a:ea typeface="Open Sans"/>
                <a:cs typeface="Open Sans"/>
                <a:sym typeface="Open Sans"/>
              </a:rPr>
              <a:t>Too good to be true </a:t>
            </a:r>
          </a:p>
        </p:txBody>
      </p:sp>
      <p:sp>
        <p:nvSpPr>
          <p:cNvPr name="TextBox 32" id="32"/>
          <p:cNvSpPr txBox="true"/>
          <p:nvPr/>
        </p:nvSpPr>
        <p:spPr>
          <a:xfrm rot="0">
            <a:off x="10232362" y="8466773"/>
            <a:ext cx="388922" cy="381869"/>
          </a:xfrm>
          <a:prstGeom prst="rect">
            <a:avLst/>
          </a:prstGeom>
        </p:spPr>
        <p:txBody>
          <a:bodyPr anchor="t" rtlCol="false" tIns="0" lIns="0" bIns="0" rIns="0">
            <a:spAutoFit/>
          </a:bodyPr>
          <a:lstStyle/>
          <a:p>
            <a:pPr algn="ctr" marL="0" indent="0" lvl="1">
              <a:lnSpc>
                <a:spcPts val="3153"/>
              </a:lnSpc>
              <a:spcBef>
                <a:spcPct val="0"/>
              </a:spcBef>
            </a:pPr>
            <a:r>
              <a:rPr lang="en-US" b="true" sz="2008" spc="100">
                <a:solidFill>
                  <a:srgbClr val="F6E7D8"/>
                </a:solidFill>
                <a:latin typeface="Open Sans Bold"/>
                <a:ea typeface="Open Sans Bold"/>
                <a:cs typeface="Open Sans Bold"/>
                <a:sym typeface="Open Sans Bold"/>
              </a:rPr>
              <a:t>7</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C191A"/>
        </a:solidFill>
      </p:bgPr>
    </p:bg>
    <p:spTree>
      <p:nvGrpSpPr>
        <p:cNvPr id="1" name=""/>
        <p:cNvGrpSpPr/>
        <p:nvPr/>
      </p:nvGrpSpPr>
      <p:grpSpPr>
        <a:xfrm>
          <a:off x="0" y="0"/>
          <a:ext cx="0" cy="0"/>
          <a:chOff x="0" y="0"/>
          <a:chExt cx="0" cy="0"/>
        </a:xfrm>
      </p:grpSpPr>
      <p:sp>
        <p:nvSpPr>
          <p:cNvPr name="Freeform 2" id="2"/>
          <p:cNvSpPr/>
          <p:nvPr/>
        </p:nvSpPr>
        <p:spPr>
          <a:xfrm flipH="false" flipV="false" rot="0">
            <a:off x="10193273" y="1422492"/>
            <a:ext cx="408090" cy="578227"/>
          </a:xfrm>
          <a:custGeom>
            <a:avLst/>
            <a:gdLst/>
            <a:ahLst/>
            <a:cxnLst/>
            <a:rect r="r" b="b" t="t" l="l"/>
            <a:pathLst>
              <a:path h="578227" w="408090">
                <a:moveTo>
                  <a:pt x="0" y="0"/>
                </a:moveTo>
                <a:lnTo>
                  <a:pt x="408090" y="0"/>
                </a:lnTo>
                <a:lnTo>
                  <a:pt x="408090" y="578227"/>
                </a:lnTo>
                <a:lnTo>
                  <a:pt x="0" y="578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321373" y="1711606"/>
            <a:ext cx="6104449" cy="1216025"/>
            <a:chOff x="0" y="0"/>
            <a:chExt cx="8139266" cy="1621367"/>
          </a:xfrm>
        </p:grpSpPr>
        <p:sp>
          <p:nvSpPr>
            <p:cNvPr name="TextBox 4" id="4"/>
            <p:cNvSpPr txBox="true"/>
            <p:nvPr/>
          </p:nvSpPr>
          <p:spPr>
            <a:xfrm rot="0">
              <a:off x="0" y="57150"/>
              <a:ext cx="1914088" cy="1564217"/>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03</a:t>
              </a:r>
            </a:p>
          </p:txBody>
        </p:sp>
        <p:sp>
          <p:nvSpPr>
            <p:cNvPr name="TextBox 5" id="5"/>
            <p:cNvSpPr txBox="true"/>
            <p:nvPr/>
          </p:nvSpPr>
          <p:spPr>
            <a:xfrm rot="0">
              <a:off x="2156046" y="221192"/>
              <a:ext cx="5983220" cy="1131358"/>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6E7D8"/>
                  </a:solidFill>
                  <a:latin typeface="Open Sans Bold"/>
                  <a:ea typeface="Open Sans Bold"/>
                  <a:cs typeface="Open Sans Bold"/>
                  <a:sym typeface="Open Sans Bold"/>
                </a:rPr>
                <a:t>REQUESTS FOR PERSONAL INFORMATION</a:t>
              </a:r>
            </a:p>
          </p:txBody>
        </p:sp>
      </p:grpSp>
      <p:sp>
        <p:nvSpPr>
          <p:cNvPr name="TextBox 6" id="6"/>
          <p:cNvSpPr txBox="true"/>
          <p:nvPr/>
        </p:nvSpPr>
        <p:spPr>
          <a:xfrm rot="0">
            <a:off x="10321373" y="3071471"/>
            <a:ext cx="6104449" cy="2000250"/>
          </a:xfrm>
          <a:prstGeom prst="rect">
            <a:avLst/>
          </a:prstGeom>
        </p:spPr>
        <p:txBody>
          <a:bodyPr anchor="t" rtlCol="false" tIns="0" lIns="0" bIns="0" rIns="0">
            <a:spAutoFit/>
          </a:bodyPr>
          <a:lstStyle/>
          <a:p>
            <a:pPr algn="l">
              <a:lnSpc>
                <a:spcPts val="2639"/>
              </a:lnSpc>
            </a:pPr>
            <a:r>
              <a:rPr lang="en-US" sz="2199" spc="43">
                <a:solidFill>
                  <a:srgbClr val="F6E7D8"/>
                </a:solidFill>
                <a:latin typeface="Open Sans"/>
                <a:ea typeface="Open Sans"/>
                <a:cs typeface="Open Sans"/>
                <a:sym typeface="Open Sans"/>
              </a:rPr>
              <a:t>Legitimate organizations do not request personal information, such as usernames, passwords, or credit card numbers, via email, social media, or other online means. Be cautious of any request for personal information.</a:t>
            </a:r>
            <a:r>
              <a:rPr lang="en-US" sz="2199" spc="43">
                <a:solidFill>
                  <a:srgbClr val="F6E7D8"/>
                </a:solidFill>
                <a:latin typeface="Open Sans"/>
                <a:ea typeface="Open Sans"/>
                <a:cs typeface="Open Sans"/>
                <a:sym typeface="Open Sans"/>
              </a:rPr>
              <a:t> </a:t>
            </a:r>
          </a:p>
        </p:txBody>
      </p:sp>
      <p:sp>
        <p:nvSpPr>
          <p:cNvPr name="Freeform 7" id="7"/>
          <p:cNvSpPr/>
          <p:nvPr/>
        </p:nvSpPr>
        <p:spPr>
          <a:xfrm flipH="false" flipV="false" rot="0">
            <a:off x="10257323" y="5752581"/>
            <a:ext cx="408090" cy="578227"/>
          </a:xfrm>
          <a:custGeom>
            <a:avLst/>
            <a:gdLst/>
            <a:ahLst/>
            <a:cxnLst/>
            <a:rect r="r" b="b" t="t" l="l"/>
            <a:pathLst>
              <a:path h="578227" w="408090">
                <a:moveTo>
                  <a:pt x="0" y="0"/>
                </a:moveTo>
                <a:lnTo>
                  <a:pt x="408090" y="0"/>
                </a:lnTo>
                <a:lnTo>
                  <a:pt x="408090" y="578227"/>
                </a:lnTo>
                <a:lnTo>
                  <a:pt x="0" y="578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0385423" y="6041695"/>
            <a:ext cx="6104449" cy="1216025"/>
            <a:chOff x="0" y="0"/>
            <a:chExt cx="8139266" cy="1621367"/>
          </a:xfrm>
        </p:grpSpPr>
        <p:sp>
          <p:nvSpPr>
            <p:cNvPr name="TextBox 9" id="9"/>
            <p:cNvSpPr txBox="true"/>
            <p:nvPr/>
          </p:nvSpPr>
          <p:spPr>
            <a:xfrm rot="0">
              <a:off x="0" y="57150"/>
              <a:ext cx="1914088" cy="1564217"/>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04</a:t>
              </a:r>
            </a:p>
          </p:txBody>
        </p:sp>
        <p:sp>
          <p:nvSpPr>
            <p:cNvPr name="TextBox 10" id="10"/>
            <p:cNvSpPr txBox="true"/>
            <p:nvPr/>
          </p:nvSpPr>
          <p:spPr>
            <a:xfrm rot="0">
              <a:off x="2156046" y="221192"/>
              <a:ext cx="5983220" cy="1131358"/>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6E7D8"/>
                  </a:solidFill>
                  <a:latin typeface="Open Sans Bold"/>
                  <a:ea typeface="Open Sans Bold"/>
                  <a:cs typeface="Open Sans Bold"/>
                  <a:sym typeface="Open Sans Bold"/>
                </a:rPr>
                <a:t>MISSPELLINGS OR GRAMMATICAL ERRORS</a:t>
              </a:r>
            </a:p>
          </p:txBody>
        </p:sp>
      </p:grpSp>
      <p:sp>
        <p:nvSpPr>
          <p:cNvPr name="TextBox 11" id="11"/>
          <p:cNvSpPr txBox="true"/>
          <p:nvPr/>
        </p:nvSpPr>
        <p:spPr>
          <a:xfrm rot="0">
            <a:off x="10385423" y="7401560"/>
            <a:ext cx="6104449" cy="1666875"/>
          </a:xfrm>
          <a:prstGeom prst="rect">
            <a:avLst/>
          </a:prstGeom>
        </p:spPr>
        <p:txBody>
          <a:bodyPr anchor="t" rtlCol="false" tIns="0" lIns="0" bIns="0" rIns="0">
            <a:spAutoFit/>
          </a:bodyPr>
          <a:lstStyle/>
          <a:p>
            <a:pPr algn="l">
              <a:lnSpc>
                <a:spcPts val="2639"/>
              </a:lnSpc>
            </a:pPr>
            <a:r>
              <a:rPr lang="en-US" sz="2199" spc="43">
                <a:solidFill>
                  <a:srgbClr val="F6E7D8"/>
                </a:solidFill>
                <a:latin typeface="Open Sans"/>
                <a:ea typeface="Open Sans"/>
                <a:cs typeface="Open Sans"/>
                <a:sym typeface="Open Sans"/>
              </a:rPr>
              <a:t>Phishing emails or messages may contain misspellings, grammatical errors, or awkward phrasing. Legitimate organizations usually have professional communications and do not contain obvious errors. </a:t>
            </a:r>
          </a:p>
        </p:txBody>
      </p:sp>
      <p:sp>
        <p:nvSpPr>
          <p:cNvPr name="Freeform 12" id="12"/>
          <p:cNvSpPr/>
          <p:nvPr/>
        </p:nvSpPr>
        <p:spPr>
          <a:xfrm flipH="false" flipV="false" rot="0">
            <a:off x="2100599" y="1422492"/>
            <a:ext cx="408090" cy="578227"/>
          </a:xfrm>
          <a:custGeom>
            <a:avLst/>
            <a:gdLst/>
            <a:ahLst/>
            <a:cxnLst/>
            <a:rect r="r" b="b" t="t" l="l"/>
            <a:pathLst>
              <a:path h="578227" w="408090">
                <a:moveTo>
                  <a:pt x="0" y="0"/>
                </a:moveTo>
                <a:lnTo>
                  <a:pt x="408090" y="0"/>
                </a:lnTo>
                <a:lnTo>
                  <a:pt x="408090" y="578227"/>
                </a:lnTo>
                <a:lnTo>
                  <a:pt x="0" y="578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228699" y="1711606"/>
            <a:ext cx="6104449" cy="1216025"/>
            <a:chOff x="0" y="0"/>
            <a:chExt cx="8139266" cy="1621367"/>
          </a:xfrm>
        </p:grpSpPr>
        <p:sp>
          <p:nvSpPr>
            <p:cNvPr name="TextBox 14" id="14"/>
            <p:cNvSpPr txBox="true"/>
            <p:nvPr/>
          </p:nvSpPr>
          <p:spPr>
            <a:xfrm rot="0">
              <a:off x="0" y="57150"/>
              <a:ext cx="1914088" cy="1564217"/>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01</a:t>
              </a:r>
            </a:p>
          </p:txBody>
        </p:sp>
        <p:sp>
          <p:nvSpPr>
            <p:cNvPr name="TextBox 15" id="15"/>
            <p:cNvSpPr txBox="true"/>
            <p:nvPr/>
          </p:nvSpPr>
          <p:spPr>
            <a:xfrm rot="0">
              <a:off x="2156046" y="221192"/>
              <a:ext cx="5983220" cy="1131358"/>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6E7D8"/>
                  </a:solidFill>
                  <a:latin typeface="Open Sans Bold"/>
                  <a:ea typeface="Open Sans Bold"/>
                  <a:cs typeface="Open Sans Bold"/>
                  <a:sym typeface="Open Sans Bold"/>
                </a:rPr>
                <a:t>URGENT OR THREATENING LANGUAGE</a:t>
              </a:r>
            </a:p>
          </p:txBody>
        </p:sp>
      </p:grpSp>
      <p:sp>
        <p:nvSpPr>
          <p:cNvPr name="TextBox 16" id="16"/>
          <p:cNvSpPr txBox="true"/>
          <p:nvPr/>
        </p:nvSpPr>
        <p:spPr>
          <a:xfrm rot="0">
            <a:off x="2228699" y="3071471"/>
            <a:ext cx="6104449" cy="2000250"/>
          </a:xfrm>
          <a:prstGeom prst="rect">
            <a:avLst/>
          </a:prstGeom>
        </p:spPr>
        <p:txBody>
          <a:bodyPr anchor="t" rtlCol="false" tIns="0" lIns="0" bIns="0" rIns="0">
            <a:spAutoFit/>
          </a:bodyPr>
          <a:lstStyle/>
          <a:p>
            <a:pPr algn="l">
              <a:lnSpc>
                <a:spcPts val="2639"/>
              </a:lnSpc>
            </a:pPr>
            <a:r>
              <a:rPr lang="en-US" sz="2199" spc="43">
                <a:solidFill>
                  <a:srgbClr val="F6E7D8"/>
                </a:solidFill>
                <a:latin typeface="Open Sans"/>
                <a:ea typeface="Open Sans"/>
                <a:cs typeface="Open Sans"/>
                <a:sym typeface="Open Sans"/>
              </a:rPr>
              <a:t>Phishing attempts often create a sense of urgency or use threatening language to prompt immediate action. Phases like "urgent action required," "account suspended," or "your account will be deleted" may indicate a phishing attempt. </a:t>
            </a:r>
          </a:p>
        </p:txBody>
      </p:sp>
      <p:sp>
        <p:nvSpPr>
          <p:cNvPr name="Freeform 17" id="17"/>
          <p:cNvSpPr/>
          <p:nvPr/>
        </p:nvSpPr>
        <p:spPr>
          <a:xfrm flipH="false" flipV="false" rot="0">
            <a:off x="2164649" y="5752581"/>
            <a:ext cx="408090" cy="578227"/>
          </a:xfrm>
          <a:custGeom>
            <a:avLst/>
            <a:gdLst/>
            <a:ahLst/>
            <a:cxnLst/>
            <a:rect r="r" b="b" t="t" l="l"/>
            <a:pathLst>
              <a:path h="578227" w="408090">
                <a:moveTo>
                  <a:pt x="0" y="0"/>
                </a:moveTo>
                <a:lnTo>
                  <a:pt x="408090" y="0"/>
                </a:lnTo>
                <a:lnTo>
                  <a:pt x="408090" y="578227"/>
                </a:lnTo>
                <a:lnTo>
                  <a:pt x="0" y="578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8" id="18"/>
          <p:cNvGrpSpPr/>
          <p:nvPr/>
        </p:nvGrpSpPr>
        <p:grpSpPr>
          <a:xfrm rot="0">
            <a:off x="2292749" y="6041695"/>
            <a:ext cx="6104449" cy="1216025"/>
            <a:chOff x="0" y="0"/>
            <a:chExt cx="8139266" cy="1621367"/>
          </a:xfrm>
        </p:grpSpPr>
        <p:sp>
          <p:nvSpPr>
            <p:cNvPr name="TextBox 19" id="19"/>
            <p:cNvSpPr txBox="true"/>
            <p:nvPr/>
          </p:nvSpPr>
          <p:spPr>
            <a:xfrm rot="0">
              <a:off x="0" y="57150"/>
              <a:ext cx="1914088" cy="1564217"/>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02</a:t>
              </a:r>
            </a:p>
          </p:txBody>
        </p:sp>
        <p:sp>
          <p:nvSpPr>
            <p:cNvPr name="TextBox 20" id="20"/>
            <p:cNvSpPr txBox="true"/>
            <p:nvPr/>
          </p:nvSpPr>
          <p:spPr>
            <a:xfrm rot="0">
              <a:off x="2156046" y="221192"/>
              <a:ext cx="5983220" cy="1131358"/>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6E7D8"/>
                  </a:solidFill>
                  <a:latin typeface="Open Sans Bold"/>
                  <a:ea typeface="Open Sans Bold"/>
                  <a:cs typeface="Open Sans Bold"/>
                  <a:sym typeface="Open Sans Bold"/>
                </a:rPr>
                <a:t>SUSPICIOUS SENDER INFORMATION</a:t>
              </a:r>
            </a:p>
          </p:txBody>
        </p:sp>
      </p:grpSp>
      <p:sp>
        <p:nvSpPr>
          <p:cNvPr name="TextBox 21" id="21"/>
          <p:cNvSpPr txBox="true"/>
          <p:nvPr/>
        </p:nvSpPr>
        <p:spPr>
          <a:xfrm rot="0">
            <a:off x="2292749" y="7401560"/>
            <a:ext cx="6104449" cy="1666875"/>
          </a:xfrm>
          <a:prstGeom prst="rect">
            <a:avLst/>
          </a:prstGeom>
        </p:spPr>
        <p:txBody>
          <a:bodyPr anchor="t" rtlCol="false" tIns="0" lIns="0" bIns="0" rIns="0">
            <a:spAutoFit/>
          </a:bodyPr>
          <a:lstStyle/>
          <a:p>
            <a:pPr algn="l">
              <a:lnSpc>
                <a:spcPts val="2639"/>
              </a:lnSpc>
            </a:pPr>
            <a:r>
              <a:rPr lang="en-US" sz="2199" spc="43">
                <a:solidFill>
                  <a:srgbClr val="F6E7D8"/>
                </a:solidFill>
                <a:latin typeface="Open Sans"/>
                <a:ea typeface="Open Sans"/>
                <a:cs typeface="Open Sans"/>
                <a:sym typeface="Open Sans"/>
              </a:rPr>
              <a:t>Check the sender's email address or social media profile. Phishing emails or messages often use generic or suspicious email addresses that do not match the legitimate entity they claim to represent.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C191A"/>
        </a:solidFill>
      </p:bgPr>
    </p:bg>
    <p:spTree>
      <p:nvGrpSpPr>
        <p:cNvPr id="1" name=""/>
        <p:cNvGrpSpPr/>
        <p:nvPr/>
      </p:nvGrpSpPr>
      <p:grpSpPr>
        <a:xfrm>
          <a:off x="0" y="0"/>
          <a:ext cx="0" cy="0"/>
          <a:chOff x="0" y="0"/>
          <a:chExt cx="0" cy="0"/>
        </a:xfrm>
      </p:grpSpPr>
      <p:sp>
        <p:nvSpPr>
          <p:cNvPr name="Freeform 2" id="2"/>
          <p:cNvSpPr/>
          <p:nvPr/>
        </p:nvSpPr>
        <p:spPr>
          <a:xfrm flipH="false" flipV="false" rot="0">
            <a:off x="10193273" y="1422492"/>
            <a:ext cx="408090" cy="578227"/>
          </a:xfrm>
          <a:custGeom>
            <a:avLst/>
            <a:gdLst/>
            <a:ahLst/>
            <a:cxnLst/>
            <a:rect r="r" b="b" t="t" l="l"/>
            <a:pathLst>
              <a:path h="578227" w="408090">
                <a:moveTo>
                  <a:pt x="0" y="0"/>
                </a:moveTo>
                <a:lnTo>
                  <a:pt x="408090" y="0"/>
                </a:lnTo>
                <a:lnTo>
                  <a:pt x="408090" y="578227"/>
                </a:lnTo>
                <a:lnTo>
                  <a:pt x="0" y="578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321373" y="1711606"/>
            <a:ext cx="6104449" cy="1216025"/>
            <a:chOff x="0" y="0"/>
            <a:chExt cx="8139266" cy="1621367"/>
          </a:xfrm>
        </p:grpSpPr>
        <p:sp>
          <p:nvSpPr>
            <p:cNvPr name="TextBox 4" id="4"/>
            <p:cNvSpPr txBox="true"/>
            <p:nvPr/>
          </p:nvSpPr>
          <p:spPr>
            <a:xfrm rot="0">
              <a:off x="0" y="57150"/>
              <a:ext cx="1914088" cy="1564217"/>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07</a:t>
              </a:r>
            </a:p>
          </p:txBody>
        </p:sp>
        <p:sp>
          <p:nvSpPr>
            <p:cNvPr name="TextBox 5" id="5"/>
            <p:cNvSpPr txBox="true"/>
            <p:nvPr/>
          </p:nvSpPr>
          <p:spPr>
            <a:xfrm rot="0">
              <a:off x="2156046" y="513292"/>
              <a:ext cx="5983220" cy="547158"/>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6E7D8"/>
                  </a:solidFill>
                  <a:latin typeface="Open Sans Bold"/>
                  <a:ea typeface="Open Sans Bold"/>
                  <a:cs typeface="Open Sans Bold"/>
                  <a:sym typeface="Open Sans Bold"/>
                </a:rPr>
                <a:t>TOO GOOD TO BE TRUE </a:t>
              </a:r>
            </a:p>
          </p:txBody>
        </p:sp>
      </p:grpSp>
      <p:sp>
        <p:nvSpPr>
          <p:cNvPr name="TextBox 6" id="6"/>
          <p:cNvSpPr txBox="true"/>
          <p:nvPr/>
        </p:nvSpPr>
        <p:spPr>
          <a:xfrm rot="0">
            <a:off x="10321373" y="3071471"/>
            <a:ext cx="6104449" cy="1666875"/>
          </a:xfrm>
          <a:prstGeom prst="rect">
            <a:avLst/>
          </a:prstGeom>
        </p:spPr>
        <p:txBody>
          <a:bodyPr anchor="t" rtlCol="false" tIns="0" lIns="0" bIns="0" rIns="0">
            <a:spAutoFit/>
          </a:bodyPr>
          <a:lstStyle/>
          <a:p>
            <a:pPr algn="l">
              <a:lnSpc>
                <a:spcPts val="2639"/>
              </a:lnSpc>
            </a:pPr>
            <a:r>
              <a:rPr lang="en-US" sz="2199" spc="43">
                <a:solidFill>
                  <a:srgbClr val="F6E7D8"/>
                </a:solidFill>
                <a:latin typeface="Open Sans"/>
                <a:ea typeface="Open Sans"/>
                <a:cs typeface="Open Sans"/>
                <a:sym typeface="Open Sans"/>
              </a:rPr>
              <a:t>Phishing attempts may lure individuals with enticing offers, such as winning a prize or getting a huge discount. If an offer seems too good to be true, it may be a phishing attempt. </a:t>
            </a:r>
          </a:p>
        </p:txBody>
      </p:sp>
      <p:sp>
        <p:nvSpPr>
          <p:cNvPr name="Freeform 7" id="7"/>
          <p:cNvSpPr/>
          <p:nvPr/>
        </p:nvSpPr>
        <p:spPr>
          <a:xfrm flipH="false" flipV="false" rot="0">
            <a:off x="2100599" y="1422492"/>
            <a:ext cx="408090" cy="578227"/>
          </a:xfrm>
          <a:custGeom>
            <a:avLst/>
            <a:gdLst/>
            <a:ahLst/>
            <a:cxnLst/>
            <a:rect r="r" b="b" t="t" l="l"/>
            <a:pathLst>
              <a:path h="578227" w="408090">
                <a:moveTo>
                  <a:pt x="0" y="0"/>
                </a:moveTo>
                <a:lnTo>
                  <a:pt x="408090" y="0"/>
                </a:lnTo>
                <a:lnTo>
                  <a:pt x="408090" y="578227"/>
                </a:lnTo>
                <a:lnTo>
                  <a:pt x="0" y="578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2228699" y="1711606"/>
            <a:ext cx="6104449" cy="1216025"/>
            <a:chOff x="0" y="0"/>
            <a:chExt cx="8139266" cy="1621367"/>
          </a:xfrm>
        </p:grpSpPr>
        <p:sp>
          <p:nvSpPr>
            <p:cNvPr name="TextBox 9" id="9"/>
            <p:cNvSpPr txBox="true"/>
            <p:nvPr/>
          </p:nvSpPr>
          <p:spPr>
            <a:xfrm rot="0">
              <a:off x="0" y="57150"/>
              <a:ext cx="1914088" cy="1564217"/>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05</a:t>
              </a:r>
            </a:p>
          </p:txBody>
        </p:sp>
        <p:sp>
          <p:nvSpPr>
            <p:cNvPr name="TextBox 10" id="10"/>
            <p:cNvSpPr txBox="true"/>
            <p:nvPr/>
          </p:nvSpPr>
          <p:spPr>
            <a:xfrm rot="0">
              <a:off x="2156046" y="221192"/>
              <a:ext cx="5983220" cy="1131358"/>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6E7D8"/>
                  </a:solidFill>
                  <a:latin typeface="Open Sans Bold"/>
                  <a:ea typeface="Open Sans Bold"/>
                  <a:cs typeface="Open Sans Bold"/>
                  <a:sym typeface="Open Sans Bold"/>
                </a:rPr>
                <a:t>SUSPICIOUS LINKS OR ATTACHMENTS</a:t>
              </a:r>
            </a:p>
          </p:txBody>
        </p:sp>
      </p:grpSp>
      <p:sp>
        <p:nvSpPr>
          <p:cNvPr name="TextBox 11" id="11"/>
          <p:cNvSpPr txBox="true"/>
          <p:nvPr/>
        </p:nvSpPr>
        <p:spPr>
          <a:xfrm rot="0">
            <a:off x="2228699" y="3071471"/>
            <a:ext cx="6104449" cy="2000250"/>
          </a:xfrm>
          <a:prstGeom prst="rect">
            <a:avLst/>
          </a:prstGeom>
        </p:spPr>
        <p:txBody>
          <a:bodyPr anchor="t" rtlCol="false" tIns="0" lIns="0" bIns="0" rIns="0">
            <a:spAutoFit/>
          </a:bodyPr>
          <a:lstStyle/>
          <a:p>
            <a:pPr algn="l">
              <a:lnSpc>
                <a:spcPts val="2639"/>
              </a:lnSpc>
            </a:pPr>
            <a:r>
              <a:rPr lang="en-US" sz="2199" spc="43">
                <a:solidFill>
                  <a:srgbClr val="F6E7D8"/>
                </a:solidFill>
                <a:latin typeface="Open Sans"/>
                <a:ea typeface="Open Sans"/>
                <a:cs typeface="Open Sans"/>
                <a:sym typeface="Open Sans"/>
              </a:rPr>
              <a:t>Be cautious of links or attachments in emails or messages from unknown or untrusted sources. Hover over links to check their actual destinations, and do not click on suspicious links or download attachments that you were not expecting. </a:t>
            </a:r>
          </a:p>
        </p:txBody>
      </p:sp>
      <p:sp>
        <p:nvSpPr>
          <p:cNvPr name="Freeform 12" id="12"/>
          <p:cNvSpPr/>
          <p:nvPr/>
        </p:nvSpPr>
        <p:spPr>
          <a:xfrm flipH="false" flipV="false" rot="0">
            <a:off x="2164649" y="5752581"/>
            <a:ext cx="408090" cy="578227"/>
          </a:xfrm>
          <a:custGeom>
            <a:avLst/>
            <a:gdLst/>
            <a:ahLst/>
            <a:cxnLst/>
            <a:rect r="r" b="b" t="t" l="l"/>
            <a:pathLst>
              <a:path h="578227" w="408090">
                <a:moveTo>
                  <a:pt x="0" y="0"/>
                </a:moveTo>
                <a:lnTo>
                  <a:pt x="408090" y="0"/>
                </a:lnTo>
                <a:lnTo>
                  <a:pt x="408090" y="578227"/>
                </a:lnTo>
                <a:lnTo>
                  <a:pt x="0" y="578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2292749" y="6041695"/>
            <a:ext cx="6104449" cy="1216025"/>
            <a:chOff x="0" y="0"/>
            <a:chExt cx="8139266" cy="1621367"/>
          </a:xfrm>
        </p:grpSpPr>
        <p:sp>
          <p:nvSpPr>
            <p:cNvPr name="TextBox 14" id="14"/>
            <p:cNvSpPr txBox="true"/>
            <p:nvPr/>
          </p:nvSpPr>
          <p:spPr>
            <a:xfrm rot="0">
              <a:off x="0" y="57150"/>
              <a:ext cx="1914088" cy="1564217"/>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06</a:t>
              </a:r>
            </a:p>
          </p:txBody>
        </p:sp>
        <p:sp>
          <p:nvSpPr>
            <p:cNvPr name="TextBox 15" id="15"/>
            <p:cNvSpPr txBox="true"/>
            <p:nvPr/>
          </p:nvSpPr>
          <p:spPr>
            <a:xfrm rot="0">
              <a:off x="2156046" y="513292"/>
              <a:ext cx="5983220" cy="547158"/>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6E7D8"/>
                  </a:solidFill>
                  <a:latin typeface="Open Sans Bold"/>
                  <a:ea typeface="Open Sans Bold"/>
                  <a:cs typeface="Open Sans Bold"/>
                  <a:sym typeface="Open Sans Bold"/>
                </a:rPr>
                <a:t>GENERIC GREETINGS </a:t>
              </a:r>
            </a:p>
          </p:txBody>
        </p:sp>
      </p:grpSp>
      <p:sp>
        <p:nvSpPr>
          <p:cNvPr name="TextBox 16" id="16"/>
          <p:cNvSpPr txBox="true"/>
          <p:nvPr/>
        </p:nvSpPr>
        <p:spPr>
          <a:xfrm rot="0">
            <a:off x="2292749" y="7401560"/>
            <a:ext cx="6104449" cy="1666875"/>
          </a:xfrm>
          <a:prstGeom prst="rect">
            <a:avLst/>
          </a:prstGeom>
        </p:spPr>
        <p:txBody>
          <a:bodyPr anchor="t" rtlCol="false" tIns="0" lIns="0" bIns="0" rIns="0">
            <a:spAutoFit/>
          </a:bodyPr>
          <a:lstStyle/>
          <a:p>
            <a:pPr algn="l">
              <a:lnSpc>
                <a:spcPts val="2639"/>
              </a:lnSpc>
            </a:pPr>
            <a:r>
              <a:rPr lang="en-US" sz="2199" spc="43">
                <a:solidFill>
                  <a:srgbClr val="F6E7D8"/>
                </a:solidFill>
                <a:latin typeface="Open Sans"/>
                <a:ea typeface="Open Sans"/>
                <a:cs typeface="Open Sans"/>
                <a:sym typeface="Open Sans"/>
              </a:rPr>
              <a:t>Phishing emails may use generic greetings like "Dear Customer" instead of addressing you by your name. Legitimate organizations often personalize their communications with your name or other relevant information. </a:t>
            </a:r>
          </a:p>
        </p:txBody>
      </p:sp>
      <p:pic>
        <p:nvPicPr>
          <p:cNvPr name="Picture 17" id="17"/>
          <p:cNvPicPr>
            <a:picLocks noChangeAspect="true"/>
          </p:cNvPicPr>
          <p:nvPr/>
        </p:nvPicPr>
        <p:blipFill>
          <a:blip r:embed="rId4"/>
          <a:srcRect l="0" t="0" r="0" b="0"/>
          <a:stretch>
            <a:fillRect/>
          </a:stretch>
        </p:blipFill>
        <p:spPr>
          <a:xfrm flipH="false" flipV="false" rot="0">
            <a:off x="10193273" y="6649707"/>
            <a:ext cx="737744" cy="801896"/>
          </a:xfrm>
          <a:prstGeom prst="rect">
            <a:avLst/>
          </a:prstGeom>
        </p:spPr>
      </p:pic>
      <p:sp>
        <p:nvSpPr>
          <p:cNvPr name="TextBox 18" id="18"/>
          <p:cNvSpPr txBox="true"/>
          <p:nvPr/>
        </p:nvSpPr>
        <p:spPr>
          <a:xfrm rot="0">
            <a:off x="11202659" y="6766313"/>
            <a:ext cx="4450071" cy="925830"/>
          </a:xfrm>
          <a:prstGeom prst="rect">
            <a:avLst/>
          </a:prstGeom>
        </p:spPr>
        <p:txBody>
          <a:bodyPr anchor="t" rtlCol="false" tIns="0" lIns="0" bIns="0" rIns="0">
            <a:spAutoFit/>
          </a:bodyPr>
          <a:lstStyle/>
          <a:p>
            <a:pPr algn="l">
              <a:lnSpc>
                <a:spcPts val="2520"/>
              </a:lnSpc>
            </a:pPr>
            <a:r>
              <a:rPr lang="en-US" sz="1800" i="true">
                <a:solidFill>
                  <a:srgbClr val="DBF3F7"/>
                </a:solidFill>
                <a:latin typeface="Open Sans Italics"/>
                <a:ea typeface="Open Sans Italics"/>
                <a:cs typeface="Open Sans Italics"/>
                <a:sym typeface="Open Sans Italics"/>
              </a:rPr>
              <a:t>Which of the seven red flags do you think is the hardest to detect? What makes you say that?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C191A"/>
        </a:solidFill>
      </p:bgPr>
    </p:bg>
    <p:spTree>
      <p:nvGrpSpPr>
        <p:cNvPr id="1" name=""/>
        <p:cNvGrpSpPr/>
        <p:nvPr/>
      </p:nvGrpSpPr>
      <p:grpSpPr>
        <a:xfrm>
          <a:off x="0" y="0"/>
          <a:ext cx="0" cy="0"/>
          <a:chOff x="0" y="0"/>
          <a:chExt cx="0" cy="0"/>
        </a:xfrm>
      </p:grpSpPr>
      <p:sp>
        <p:nvSpPr>
          <p:cNvPr name="TextBox 2" id="2"/>
          <p:cNvSpPr txBox="true"/>
          <p:nvPr/>
        </p:nvSpPr>
        <p:spPr>
          <a:xfrm rot="0">
            <a:off x="1311626" y="1768756"/>
            <a:ext cx="6610201" cy="3387725"/>
          </a:xfrm>
          <a:prstGeom prst="rect">
            <a:avLst/>
          </a:prstGeom>
        </p:spPr>
        <p:txBody>
          <a:bodyPr anchor="t" rtlCol="false" tIns="0" lIns="0" bIns="0" rIns="0">
            <a:spAutoFit/>
          </a:bodyPr>
          <a:lstStyle/>
          <a:p>
            <a:pPr algn="l" marL="0" indent="0" lvl="0">
              <a:lnSpc>
                <a:spcPts val="8800"/>
              </a:lnSpc>
            </a:pPr>
            <a:r>
              <a:rPr lang="en-US" sz="8000" spc="160">
                <a:solidFill>
                  <a:srgbClr val="F6E7D8"/>
                </a:solidFill>
                <a:latin typeface="Archivo Black"/>
                <a:ea typeface="Archivo Black"/>
                <a:cs typeface="Archivo Black"/>
                <a:sym typeface="Archivo Black"/>
              </a:rPr>
              <a:t>REAL VS PHISHING EMAIL</a:t>
            </a:r>
          </a:p>
        </p:txBody>
      </p:sp>
      <p:pic>
        <p:nvPicPr>
          <p:cNvPr name="Picture 3" id="3"/>
          <p:cNvPicPr>
            <a:picLocks noChangeAspect="true"/>
          </p:cNvPicPr>
          <p:nvPr/>
        </p:nvPicPr>
        <p:blipFill>
          <a:blip r:embed="rId2"/>
          <a:srcRect l="0" t="0" r="0" b="0"/>
          <a:stretch>
            <a:fillRect/>
          </a:stretch>
        </p:blipFill>
        <p:spPr>
          <a:xfrm flipH="false" flipV="false" rot="0">
            <a:off x="1311626" y="5879290"/>
            <a:ext cx="737744" cy="801896"/>
          </a:xfrm>
          <a:prstGeom prst="rect">
            <a:avLst/>
          </a:prstGeom>
        </p:spPr>
      </p:pic>
      <p:sp>
        <p:nvSpPr>
          <p:cNvPr name="TextBox 4" id="4"/>
          <p:cNvSpPr txBox="true"/>
          <p:nvPr/>
        </p:nvSpPr>
        <p:spPr>
          <a:xfrm rot="0">
            <a:off x="2391691" y="6202070"/>
            <a:ext cx="4450071" cy="297180"/>
          </a:xfrm>
          <a:prstGeom prst="rect">
            <a:avLst/>
          </a:prstGeom>
        </p:spPr>
        <p:txBody>
          <a:bodyPr anchor="t" rtlCol="false" tIns="0" lIns="0" bIns="0" rIns="0">
            <a:spAutoFit/>
          </a:bodyPr>
          <a:lstStyle/>
          <a:p>
            <a:pPr algn="l">
              <a:lnSpc>
                <a:spcPts val="2520"/>
              </a:lnSpc>
            </a:pPr>
            <a:r>
              <a:rPr lang="en-US" sz="1800" i="true">
                <a:solidFill>
                  <a:srgbClr val="DBF3F7"/>
                </a:solidFill>
                <a:latin typeface="Open Sans Italics"/>
                <a:ea typeface="Open Sans Italics"/>
                <a:cs typeface="Open Sans Italics"/>
                <a:sym typeface="Open Sans Italics"/>
              </a:rPr>
              <a:t>Always hover over links before clicking.</a:t>
            </a:r>
          </a:p>
        </p:txBody>
      </p:sp>
      <p:sp>
        <p:nvSpPr>
          <p:cNvPr name="TextBox 5" id="5"/>
          <p:cNvSpPr txBox="true"/>
          <p:nvPr/>
        </p:nvSpPr>
        <p:spPr>
          <a:xfrm rot="0">
            <a:off x="10565227" y="2043650"/>
            <a:ext cx="4487415" cy="422275"/>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6E7D8"/>
                </a:solidFill>
                <a:latin typeface="Open Sans Bold"/>
                <a:ea typeface="Open Sans Bold"/>
                <a:cs typeface="Open Sans Bold"/>
                <a:sym typeface="Open Sans Bold"/>
              </a:rPr>
              <a:t>LEGITIMATE EMAIL</a:t>
            </a:r>
          </a:p>
        </p:txBody>
      </p:sp>
      <p:sp>
        <p:nvSpPr>
          <p:cNvPr name="TextBox 6" id="6"/>
          <p:cNvSpPr txBox="true"/>
          <p:nvPr/>
        </p:nvSpPr>
        <p:spPr>
          <a:xfrm rot="0">
            <a:off x="10565227" y="2752022"/>
            <a:ext cx="6104449" cy="2142490"/>
          </a:xfrm>
          <a:prstGeom prst="rect">
            <a:avLst/>
          </a:prstGeom>
        </p:spPr>
        <p:txBody>
          <a:bodyPr anchor="t" rtlCol="false" tIns="0" lIns="0" bIns="0" rIns="0">
            <a:spAutoFit/>
          </a:bodyPr>
          <a:lstStyle/>
          <a:p>
            <a:pPr algn="l">
              <a:lnSpc>
                <a:spcPts val="2419"/>
              </a:lnSpc>
            </a:pPr>
            <a:r>
              <a:rPr lang="en-US" sz="2199" spc="43">
                <a:solidFill>
                  <a:srgbClr val="F6E7D8"/>
                </a:solidFill>
                <a:latin typeface="Open Sans"/>
                <a:ea typeface="Open Sans"/>
                <a:cs typeface="Open Sans"/>
                <a:sym typeface="Open Sans"/>
              </a:rPr>
              <a:t>Official domain</a:t>
            </a:r>
          </a:p>
          <a:p>
            <a:pPr algn="l">
              <a:lnSpc>
                <a:spcPts val="2419"/>
              </a:lnSpc>
            </a:pPr>
          </a:p>
          <a:p>
            <a:pPr algn="l">
              <a:lnSpc>
                <a:spcPts val="2419"/>
              </a:lnSpc>
            </a:pPr>
            <a:r>
              <a:rPr lang="en-US" sz="2199" spc="43">
                <a:solidFill>
                  <a:srgbClr val="F6E7D8"/>
                </a:solidFill>
                <a:latin typeface="Open Sans"/>
                <a:ea typeface="Open Sans"/>
                <a:cs typeface="Open Sans"/>
                <a:sym typeface="Open Sans"/>
              </a:rPr>
              <a:t>No urgency</a:t>
            </a:r>
          </a:p>
          <a:p>
            <a:pPr algn="l">
              <a:lnSpc>
                <a:spcPts val="2419"/>
              </a:lnSpc>
            </a:pPr>
          </a:p>
          <a:p>
            <a:pPr algn="l">
              <a:lnSpc>
                <a:spcPts val="2419"/>
              </a:lnSpc>
            </a:pPr>
            <a:r>
              <a:rPr lang="en-US" sz="2199" spc="43">
                <a:solidFill>
                  <a:srgbClr val="F6E7D8"/>
                </a:solidFill>
                <a:latin typeface="Open Sans"/>
                <a:ea typeface="Open Sans"/>
                <a:cs typeface="Open Sans"/>
                <a:sym typeface="Open Sans"/>
              </a:rPr>
              <a:t>Professional tone</a:t>
            </a:r>
          </a:p>
          <a:p>
            <a:pPr algn="l">
              <a:lnSpc>
                <a:spcPts val="2419"/>
              </a:lnSpc>
            </a:pPr>
          </a:p>
          <a:p>
            <a:pPr algn="l">
              <a:lnSpc>
                <a:spcPts val="2419"/>
              </a:lnSpc>
            </a:pPr>
            <a:r>
              <a:rPr lang="en-US" sz="2199" spc="43">
                <a:solidFill>
                  <a:srgbClr val="F6E7D8"/>
                </a:solidFill>
                <a:latin typeface="Open Sans"/>
                <a:ea typeface="Open Sans"/>
                <a:cs typeface="Open Sans"/>
                <a:sym typeface="Open Sans"/>
              </a:rPr>
              <a:t>No link pressure</a:t>
            </a:r>
          </a:p>
        </p:txBody>
      </p:sp>
      <p:sp>
        <p:nvSpPr>
          <p:cNvPr name="TextBox 7" id="7"/>
          <p:cNvSpPr txBox="true"/>
          <p:nvPr/>
        </p:nvSpPr>
        <p:spPr>
          <a:xfrm rot="0">
            <a:off x="10565227" y="5675625"/>
            <a:ext cx="4487415" cy="422275"/>
          </a:xfrm>
          <a:prstGeom prst="rect">
            <a:avLst/>
          </a:prstGeom>
        </p:spPr>
        <p:txBody>
          <a:bodyPr anchor="t" rtlCol="false" tIns="0" lIns="0" bIns="0" rIns="0">
            <a:spAutoFit/>
          </a:bodyPr>
          <a:lstStyle/>
          <a:p>
            <a:pPr algn="l" marL="0" indent="0" lvl="0">
              <a:lnSpc>
                <a:spcPts val="3499"/>
              </a:lnSpc>
              <a:spcBef>
                <a:spcPct val="0"/>
              </a:spcBef>
            </a:pPr>
            <a:r>
              <a:rPr lang="en-US" b="true" sz="2499" spc="49">
                <a:solidFill>
                  <a:srgbClr val="F6E7D8"/>
                </a:solidFill>
                <a:latin typeface="Open Sans Bold"/>
                <a:ea typeface="Open Sans Bold"/>
                <a:cs typeface="Open Sans Bold"/>
                <a:sym typeface="Open Sans Bold"/>
              </a:rPr>
              <a:t>PHISHING EMAIL</a:t>
            </a:r>
          </a:p>
        </p:txBody>
      </p:sp>
      <p:sp>
        <p:nvSpPr>
          <p:cNvPr name="TextBox 8" id="8"/>
          <p:cNvSpPr txBox="true"/>
          <p:nvPr/>
        </p:nvSpPr>
        <p:spPr>
          <a:xfrm rot="0">
            <a:off x="10565227" y="6383997"/>
            <a:ext cx="6104449" cy="2142490"/>
          </a:xfrm>
          <a:prstGeom prst="rect">
            <a:avLst/>
          </a:prstGeom>
        </p:spPr>
        <p:txBody>
          <a:bodyPr anchor="t" rtlCol="false" tIns="0" lIns="0" bIns="0" rIns="0">
            <a:spAutoFit/>
          </a:bodyPr>
          <a:lstStyle/>
          <a:p>
            <a:pPr algn="l">
              <a:lnSpc>
                <a:spcPts val="2419"/>
              </a:lnSpc>
            </a:pPr>
            <a:r>
              <a:rPr lang="en-US" sz="2199" spc="43">
                <a:solidFill>
                  <a:srgbClr val="F6E7D8"/>
                </a:solidFill>
                <a:latin typeface="Open Sans"/>
                <a:ea typeface="Open Sans"/>
                <a:cs typeface="Open Sans"/>
                <a:sym typeface="Open Sans"/>
              </a:rPr>
              <a:t>Misspelled domain</a:t>
            </a:r>
          </a:p>
          <a:p>
            <a:pPr algn="l">
              <a:lnSpc>
                <a:spcPts val="2419"/>
              </a:lnSpc>
            </a:pPr>
          </a:p>
          <a:p>
            <a:pPr algn="l">
              <a:lnSpc>
                <a:spcPts val="2419"/>
              </a:lnSpc>
            </a:pPr>
            <a:r>
              <a:rPr lang="en-US" sz="2199" spc="43">
                <a:solidFill>
                  <a:srgbClr val="F6E7D8"/>
                </a:solidFill>
                <a:latin typeface="Open Sans"/>
                <a:ea typeface="Open Sans"/>
                <a:cs typeface="Open Sans"/>
                <a:sym typeface="Open Sans"/>
              </a:rPr>
              <a:t>Threats &amp; deadlines</a:t>
            </a:r>
          </a:p>
          <a:p>
            <a:pPr algn="l">
              <a:lnSpc>
                <a:spcPts val="2419"/>
              </a:lnSpc>
            </a:pPr>
          </a:p>
          <a:p>
            <a:pPr algn="l">
              <a:lnSpc>
                <a:spcPts val="2419"/>
              </a:lnSpc>
            </a:pPr>
            <a:r>
              <a:rPr lang="en-US" sz="2199" spc="43">
                <a:solidFill>
                  <a:srgbClr val="F6E7D8"/>
                </a:solidFill>
                <a:latin typeface="Open Sans"/>
                <a:ea typeface="Open Sans"/>
                <a:cs typeface="Open Sans"/>
                <a:sym typeface="Open Sans"/>
              </a:rPr>
              <a:t>Fear-based language</a:t>
            </a:r>
          </a:p>
          <a:p>
            <a:pPr algn="l">
              <a:lnSpc>
                <a:spcPts val="2419"/>
              </a:lnSpc>
            </a:pPr>
          </a:p>
          <a:p>
            <a:pPr algn="l">
              <a:lnSpc>
                <a:spcPts val="2419"/>
              </a:lnSpc>
            </a:pPr>
            <a:r>
              <a:rPr lang="en-US" sz="2199" spc="43">
                <a:solidFill>
                  <a:srgbClr val="F6E7D8"/>
                </a:solidFill>
                <a:latin typeface="Open Sans"/>
                <a:ea typeface="Open Sans"/>
                <a:cs typeface="Open Sans"/>
                <a:sym typeface="Open Sans"/>
              </a:rPr>
              <a:t>Forced clicks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C191A"/>
        </a:solidFill>
      </p:bgPr>
    </p:bg>
    <p:spTree>
      <p:nvGrpSpPr>
        <p:cNvPr id="1" name=""/>
        <p:cNvGrpSpPr/>
        <p:nvPr/>
      </p:nvGrpSpPr>
      <p:grpSpPr>
        <a:xfrm>
          <a:off x="0" y="0"/>
          <a:ext cx="0" cy="0"/>
          <a:chOff x="0" y="0"/>
          <a:chExt cx="0" cy="0"/>
        </a:xfrm>
      </p:grpSpPr>
      <p:sp>
        <p:nvSpPr>
          <p:cNvPr name="TextBox 2" id="2"/>
          <p:cNvSpPr txBox="true"/>
          <p:nvPr/>
        </p:nvSpPr>
        <p:spPr>
          <a:xfrm rot="0">
            <a:off x="7785610" y="1692556"/>
            <a:ext cx="8824656" cy="3676650"/>
          </a:xfrm>
          <a:prstGeom prst="rect">
            <a:avLst/>
          </a:prstGeom>
        </p:spPr>
        <p:txBody>
          <a:bodyPr anchor="t" rtlCol="false" tIns="0" lIns="0" bIns="0" rIns="0">
            <a:spAutoFit/>
          </a:bodyPr>
          <a:lstStyle/>
          <a:p>
            <a:pPr algn="l" marL="0" indent="0" lvl="0">
              <a:lnSpc>
                <a:spcPts val="9600"/>
              </a:lnSpc>
            </a:pPr>
            <a:r>
              <a:rPr lang="en-US" sz="8000" spc="160">
                <a:solidFill>
                  <a:srgbClr val="F6E7D8"/>
                </a:solidFill>
                <a:latin typeface="Archivo Black"/>
                <a:ea typeface="Archivo Black"/>
                <a:cs typeface="Archivo Black"/>
                <a:sym typeface="Archivo Black"/>
              </a:rPr>
              <a:t>WHAT TO DO IF YOU FALL F</a:t>
            </a:r>
            <a:r>
              <a:rPr lang="en-US" sz="8000" spc="160">
                <a:solidFill>
                  <a:srgbClr val="F6E7D8"/>
                </a:solidFill>
                <a:latin typeface="Archivo Black"/>
                <a:ea typeface="Archivo Black"/>
                <a:cs typeface="Archivo Black"/>
                <a:sym typeface="Archivo Black"/>
              </a:rPr>
              <a:t>OR PHISHING</a:t>
            </a:r>
          </a:p>
        </p:txBody>
      </p:sp>
      <p:sp>
        <p:nvSpPr>
          <p:cNvPr name="TextBox 3" id="3"/>
          <p:cNvSpPr txBox="true"/>
          <p:nvPr/>
        </p:nvSpPr>
        <p:spPr>
          <a:xfrm rot="0">
            <a:off x="7785610" y="6111277"/>
            <a:ext cx="8824656" cy="2334387"/>
          </a:xfrm>
          <a:prstGeom prst="rect">
            <a:avLst/>
          </a:prstGeom>
        </p:spPr>
        <p:txBody>
          <a:bodyPr anchor="t" rtlCol="false" tIns="0" lIns="0" bIns="0" rIns="0">
            <a:spAutoFit/>
          </a:bodyPr>
          <a:lstStyle/>
          <a:p>
            <a:pPr algn="l" marL="479298" indent="-239649" lvl="1">
              <a:lnSpc>
                <a:spcPts val="3108"/>
              </a:lnSpc>
              <a:buAutoNum type="arabicPeriod" startAt="1"/>
            </a:pPr>
            <a:r>
              <a:rPr lang="en-US" sz="2220" spc="44">
                <a:solidFill>
                  <a:srgbClr val="F6E7D8"/>
                </a:solidFill>
                <a:latin typeface="Open Sans"/>
                <a:ea typeface="Open Sans"/>
                <a:cs typeface="Open Sans"/>
                <a:sym typeface="Open Sans"/>
              </a:rPr>
              <a:t>Disconnect from the internet</a:t>
            </a:r>
          </a:p>
          <a:p>
            <a:pPr algn="l" marL="479298" indent="-239649" lvl="1">
              <a:lnSpc>
                <a:spcPts val="3108"/>
              </a:lnSpc>
              <a:buAutoNum type="arabicPeriod" startAt="1"/>
            </a:pPr>
            <a:r>
              <a:rPr lang="en-US" sz="2220" spc="44">
                <a:solidFill>
                  <a:srgbClr val="F6E7D8"/>
                </a:solidFill>
                <a:latin typeface="Open Sans"/>
                <a:ea typeface="Open Sans"/>
                <a:cs typeface="Open Sans"/>
                <a:sym typeface="Open Sans"/>
              </a:rPr>
              <a:t>Change compromised passwords</a:t>
            </a:r>
          </a:p>
          <a:p>
            <a:pPr algn="l" marL="479298" indent="-239649" lvl="1">
              <a:lnSpc>
                <a:spcPts val="3108"/>
              </a:lnSpc>
              <a:buAutoNum type="arabicPeriod" startAt="1"/>
            </a:pPr>
            <a:r>
              <a:rPr lang="en-US" sz="2220" spc="44">
                <a:solidFill>
                  <a:srgbClr val="F6E7D8"/>
                </a:solidFill>
                <a:latin typeface="Open Sans"/>
                <a:ea typeface="Open Sans"/>
                <a:cs typeface="Open Sans"/>
                <a:sym typeface="Open Sans"/>
              </a:rPr>
              <a:t>Enable 2FA immediately</a:t>
            </a:r>
          </a:p>
          <a:p>
            <a:pPr algn="l" marL="479298" indent="-239649" lvl="1">
              <a:lnSpc>
                <a:spcPts val="3108"/>
              </a:lnSpc>
              <a:buAutoNum type="arabicPeriod" startAt="1"/>
            </a:pPr>
            <a:r>
              <a:rPr lang="en-US" sz="2220" spc="44">
                <a:solidFill>
                  <a:srgbClr val="F6E7D8"/>
                </a:solidFill>
                <a:latin typeface="Open Sans"/>
                <a:ea typeface="Open Sans"/>
                <a:cs typeface="Open Sans"/>
                <a:sym typeface="Open Sans"/>
              </a:rPr>
              <a:t>Scan device for malware</a:t>
            </a:r>
          </a:p>
          <a:p>
            <a:pPr algn="l" marL="479298" indent="-239649" lvl="1">
              <a:lnSpc>
                <a:spcPts val="3108"/>
              </a:lnSpc>
              <a:buAutoNum type="arabicPeriod" startAt="1"/>
            </a:pPr>
            <a:r>
              <a:rPr lang="en-US" sz="2220" spc="44">
                <a:solidFill>
                  <a:srgbClr val="F6E7D8"/>
                </a:solidFill>
                <a:latin typeface="Open Sans"/>
                <a:ea typeface="Open Sans"/>
                <a:cs typeface="Open Sans"/>
                <a:sym typeface="Open Sans"/>
              </a:rPr>
              <a:t>Inform bank / IT department</a:t>
            </a:r>
          </a:p>
          <a:p>
            <a:pPr algn="l" marL="479298" indent="-239649" lvl="1">
              <a:lnSpc>
                <a:spcPts val="3108"/>
              </a:lnSpc>
              <a:spcBef>
                <a:spcPct val="0"/>
              </a:spcBef>
              <a:buAutoNum type="arabicPeriod" startAt="1"/>
            </a:pPr>
            <a:r>
              <a:rPr lang="en-US" sz="2220" spc="44">
                <a:solidFill>
                  <a:srgbClr val="F6E7D8"/>
                </a:solidFill>
                <a:latin typeface="Open Sans"/>
                <a:ea typeface="Open Sans"/>
                <a:cs typeface="Open Sans"/>
                <a:sym typeface="Open Sans"/>
              </a:rPr>
              <a:t>Report the phishing attempt</a:t>
            </a:r>
          </a:p>
        </p:txBody>
      </p:sp>
      <p:sp>
        <p:nvSpPr>
          <p:cNvPr name="Freeform 4" id="4"/>
          <p:cNvSpPr/>
          <p:nvPr/>
        </p:nvSpPr>
        <p:spPr>
          <a:xfrm flipH="false" flipV="false" rot="0">
            <a:off x="2056628" y="2621131"/>
            <a:ext cx="3815083" cy="5044738"/>
          </a:xfrm>
          <a:custGeom>
            <a:avLst/>
            <a:gdLst/>
            <a:ahLst/>
            <a:cxnLst/>
            <a:rect r="r" b="b" t="t" l="l"/>
            <a:pathLst>
              <a:path h="5044738" w="3815083">
                <a:moveTo>
                  <a:pt x="0" y="0"/>
                </a:moveTo>
                <a:lnTo>
                  <a:pt x="3815083" y="0"/>
                </a:lnTo>
                <a:lnTo>
                  <a:pt x="3815083" y="5044738"/>
                </a:lnTo>
                <a:lnTo>
                  <a:pt x="0" y="50447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C191A"/>
        </a:solidFill>
      </p:bgPr>
    </p:bg>
    <p:spTree>
      <p:nvGrpSpPr>
        <p:cNvPr id="1" name=""/>
        <p:cNvGrpSpPr/>
        <p:nvPr/>
      </p:nvGrpSpPr>
      <p:grpSpPr>
        <a:xfrm>
          <a:off x="0" y="0"/>
          <a:ext cx="0" cy="0"/>
          <a:chOff x="0" y="0"/>
          <a:chExt cx="0" cy="0"/>
        </a:xfrm>
      </p:grpSpPr>
      <p:sp>
        <p:nvSpPr>
          <p:cNvPr name="TextBox 2" id="2"/>
          <p:cNvSpPr txBox="true"/>
          <p:nvPr/>
        </p:nvSpPr>
        <p:spPr>
          <a:xfrm rot="0">
            <a:off x="3083430" y="1768756"/>
            <a:ext cx="12121140" cy="1158875"/>
          </a:xfrm>
          <a:prstGeom prst="rect">
            <a:avLst/>
          </a:prstGeom>
        </p:spPr>
        <p:txBody>
          <a:bodyPr anchor="t" rtlCol="false" tIns="0" lIns="0" bIns="0" rIns="0">
            <a:spAutoFit/>
          </a:bodyPr>
          <a:lstStyle/>
          <a:p>
            <a:pPr algn="ctr" marL="0" indent="0" lvl="0">
              <a:lnSpc>
                <a:spcPts val="8800"/>
              </a:lnSpc>
            </a:pPr>
            <a:r>
              <a:rPr lang="en-US" sz="8000" spc="160">
                <a:solidFill>
                  <a:srgbClr val="F6E7D8"/>
                </a:solidFill>
                <a:latin typeface="Archivo Black"/>
                <a:ea typeface="Archivo Black"/>
                <a:cs typeface="Archivo Black"/>
                <a:sym typeface="Archivo Black"/>
              </a:rPr>
              <a:t>THINK CRITICALLY</a:t>
            </a:r>
          </a:p>
        </p:txBody>
      </p:sp>
      <p:sp>
        <p:nvSpPr>
          <p:cNvPr name="Freeform 3" id="3"/>
          <p:cNvSpPr/>
          <p:nvPr/>
        </p:nvSpPr>
        <p:spPr>
          <a:xfrm flipH="false" flipV="false" rot="0">
            <a:off x="3622110" y="3874042"/>
            <a:ext cx="1084551" cy="1424697"/>
          </a:xfrm>
          <a:custGeom>
            <a:avLst/>
            <a:gdLst/>
            <a:ahLst/>
            <a:cxnLst/>
            <a:rect r="r" b="b" t="t" l="l"/>
            <a:pathLst>
              <a:path h="1424697" w="1084551">
                <a:moveTo>
                  <a:pt x="0" y="0"/>
                </a:moveTo>
                <a:lnTo>
                  <a:pt x="1084551" y="0"/>
                </a:lnTo>
                <a:lnTo>
                  <a:pt x="1084551" y="1424698"/>
                </a:lnTo>
                <a:lnTo>
                  <a:pt x="0" y="1424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236549" y="3874042"/>
            <a:ext cx="1814901" cy="1424697"/>
          </a:xfrm>
          <a:custGeom>
            <a:avLst/>
            <a:gdLst/>
            <a:ahLst/>
            <a:cxnLst/>
            <a:rect r="r" b="b" t="t" l="l"/>
            <a:pathLst>
              <a:path h="1424697" w="1814901">
                <a:moveTo>
                  <a:pt x="0" y="0"/>
                </a:moveTo>
                <a:lnTo>
                  <a:pt x="1814902" y="0"/>
                </a:lnTo>
                <a:lnTo>
                  <a:pt x="1814902" y="1424698"/>
                </a:lnTo>
                <a:lnTo>
                  <a:pt x="0" y="1424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328414" y="3902529"/>
            <a:ext cx="1528182" cy="1367723"/>
          </a:xfrm>
          <a:custGeom>
            <a:avLst/>
            <a:gdLst/>
            <a:ahLst/>
            <a:cxnLst/>
            <a:rect r="r" b="b" t="t" l="l"/>
            <a:pathLst>
              <a:path h="1367723" w="1528182">
                <a:moveTo>
                  <a:pt x="0" y="0"/>
                </a:moveTo>
                <a:lnTo>
                  <a:pt x="1528182" y="0"/>
                </a:lnTo>
                <a:lnTo>
                  <a:pt x="1528182" y="1367723"/>
                </a:lnTo>
                <a:lnTo>
                  <a:pt x="0" y="136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382487" y="6034197"/>
            <a:ext cx="3563797" cy="1837690"/>
          </a:xfrm>
          <a:prstGeom prst="rect">
            <a:avLst/>
          </a:prstGeom>
        </p:spPr>
        <p:txBody>
          <a:bodyPr anchor="t" rtlCol="false" tIns="0" lIns="0" bIns="0" rIns="0">
            <a:spAutoFit/>
          </a:bodyPr>
          <a:lstStyle/>
          <a:p>
            <a:pPr algn="ctr">
              <a:lnSpc>
                <a:spcPts val="2419"/>
              </a:lnSpc>
            </a:pPr>
            <a:r>
              <a:rPr lang="en-US" sz="2199" spc="43">
                <a:solidFill>
                  <a:srgbClr val="F6E7D8"/>
                </a:solidFill>
                <a:latin typeface="Open Sans"/>
                <a:ea typeface="Open Sans"/>
                <a:cs typeface="Open Sans"/>
                <a:sym typeface="Open Sans"/>
              </a:rPr>
              <a:t>Be skeptical of emails, messages, or posts that seem too good to be true or too urgent. Remember, if it sounds too good to be true, it probably is!</a:t>
            </a:r>
          </a:p>
        </p:txBody>
      </p:sp>
      <p:sp>
        <p:nvSpPr>
          <p:cNvPr name="TextBox 7" id="7"/>
          <p:cNvSpPr txBox="true"/>
          <p:nvPr/>
        </p:nvSpPr>
        <p:spPr>
          <a:xfrm rot="0">
            <a:off x="7300930" y="6034197"/>
            <a:ext cx="3626017" cy="2142490"/>
          </a:xfrm>
          <a:prstGeom prst="rect">
            <a:avLst/>
          </a:prstGeom>
        </p:spPr>
        <p:txBody>
          <a:bodyPr anchor="t" rtlCol="false" tIns="0" lIns="0" bIns="0" rIns="0">
            <a:spAutoFit/>
          </a:bodyPr>
          <a:lstStyle/>
          <a:p>
            <a:pPr algn="ctr">
              <a:lnSpc>
                <a:spcPts val="2419"/>
              </a:lnSpc>
            </a:pPr>
            <a:r>
              <a:rPr lang="en-US" sz="2199" spc="43">
                <a:solidFill>
                  <a:srgbClr val="F6E7D8"/>
                </a:solidFill>
                <a:latin typeface="Open Sans"/>
                <a:ea typeface="Open Sans"/>
                <a:cs typeface="Open Sans"/>
                <a:sym typeface="Open Sans"/>
              </a:rPr>
              <a:t>Think before clicking on any links, sharing personal information online, or opening any suspicious attachments. Ask yourself if it seems legitimate and if you were expecting it. </a:t>
            </a:r>
          </a:p>
        </p:txBody>
      </p:sp>
      <p:sp>
        <p:nvSpPr>
          <p:cNvPr name="TextBox 8" id="8"/>
          <p:cNvSpPr txBox="true"/>
          <p:nvPr/>
        </p:nvSpPr>
        <p:spPr>
          <a:xfrm rot="0">
            <a:off x="12279497" y="6034197"/>
            <a:ext cx="3626017" cy="2142490"/>
          </a:xfrm>
          <a:prstGeom prst="rect">
            <a:avLst/>
          </a:prstGeom>
        </p:spPr>
        <p:txBody>
          <a:bodyPr anchor="t" rtlCol="false" tIns="0" lIns="0" bIns="0" rIns="0">
            <a:spAutoFit/>
          </a:bodyPr>
          <a:lstStyle/>
          <a:p>
            <a:pPr algn="ctr">
              <a:lnSpc>
                <a:spcPts val="2419"/>
              </a:lnSpc>
            </a:pPr>
            <a:r>
              <a:rPr lang="en-US" sz="2199" spc="43">
                <a:solidFill>
                  <a:srgbClr val="F6E7D8"/>
                </a:solidFill>
                <a:latin typeface="Open Sans"/>
                <a:ea typeface="Open Sans"/>
                <a:cs typeface="Open Sans"/>
                <a:sym typeface="Open Sans"/>
              </a:rPr>
              <a:t>Verify the authenticity of the sender and the information provided before taking any action. Trust your instincts and be cautious when sharing information online.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DAG8dPvnCws</dc:identifier>
  <dcterms:modified xsi:type="dcterms:W3CDTF">2011-08-01T06:04:30Z</dcterms:modified>
  <cp:revision>1</cp:revision>
  <dc:title>Phishing 101 Presentation</dc:title>
</cp:coreProperties>
</file>